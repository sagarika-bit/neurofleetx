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stoga" charset="1" panose="00000500000000000000"/>
      <p:regular r:id="rId18"/>
    </p:embeddedFont>
    <p:embeddedFont>
      <p:font typeface="Canva Sans Bold" charset="1" panose="020B0803030501040103"/>
      <p:regular r:id="rId19"/>
    </p:embeddedFont>
    <p:embeddedFont>
      <p:font typeface="TT Hoves Bold" charset="1" panose="02000003020000060003"/>
      <p:regular r:id="rId20"/>
    </p:embeddedFont>
    <p:embeddedFont>
      <p:font typeface="TT Hoves" charset="1" panose="02000003020000060003"/>
      <p:regular r:id="rId21"/>
    </p:embeddedFont>
    <p:embeddedFont>
      <p:font typeface="Canva Sans" charset="1" panose="020B0503030501040103"/>
      <p:regular r:id="rId22"/>
    </p:embeddedFont>
    <p:embeddedFont>
      <p:font typeface="Canva Sans Bold Italics" charset="1" panose="020B08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10552" y="-339286"/>
            <a:ext cx="10428600" cy="11986897"/>
          </a:xfrm>
          <a:custGeom>
            <a:avLst/>
            <a:gdLst/>
            <a:ahLst/>
            <a:cxnLst/>
            <a:rect r="r" b="b" t="t" l="l"/>
            <a:pathLst>
              <a:path h="11986897" w="10428600">
                <a:moveTo>
                  <a:pt x="0" y="0"/>
                </a:moveTo>
                <a:lnTo>
                  <a:pt x="10428601" y="0"/>
                </a:lnTo>
                <a:lnTo>
                  <a:pt x="10428601" y="11986897"/>
                </a:lnTo>
                <a:lnTo>
                  <a:pt x="0" y="11986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6042322" y="7239012"/>
            <a:ext cx="0" cy="1738534"/>
          </a:xfrm>
          <a:prstGeom prst="line">
            <a:avLst/>
          </a:prstGeom>
          <a:ln cap="flat" w="38100">
            <a:solidFill>
              <a:srgbClr val="183630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4" id="4"/>
          <p:cNvGrpSpPr/>
          <p:nvPr/>
        </p:nvGrpSpPr>
        <p:grpSpPr>
          <a:xfrm rot="0">
            <a:off x="15256264" y="6452953"/>
            <a:ext cx="1572117" cy="157211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63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H="true">
            <a:off x="12581947" y="6018421"/>
            <a:ext cx="0" cy="1738534"/>
          </a:xfrm>
          <a:prstGeom prst="line">
            <a:avLst/>
          </a:prstGeom>
          <a:ln cap="flat" w="38100">
            <a:solidFill>
              <a:srgbClr val="157664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11795889" y="5232363"/>
            <a:ext cx="1572117" cy="15721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7664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H="true">
            <a:off x="10120559" y="4587591"/>
            <a:ext cx="0" cy="1738534"/>
          </a:xfrm>
          <a:prstGeom prst="line">
            <a:avLst/>
          </a:prstGeom>
          <a:ln cap="flat" w="38100">
            <a:solidFill>
              <a:srgbClr val="539B5C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9334500" y="3801532"/>
            <a:ext cx="1572117" cy="157211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9B5C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H="true">
            <a:off x="11795889" y="2030216"/>
            <a:ext cx="0" cy="1738534"/>
          </a:xfrm>
          <a:prstGeom prst="line">
            <a:avLst/>
          </a:prstGeom>
          <a:ln cap="flat" w="38100">
            <a:solidFill>
              <a:srgbClr val="A4B73C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11009830" y="1244157"/>
            <a:ext cx="1572117" cy="157211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AA33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15180064" y="1255740"/>
            <a:ext cx="0" cy="1738534"/>
          </a:xfrm>
          <a:prstGeom prst="line">
            <a:avLst/>
          </a:prstGeom>
          <a:ln cap="flat" w="38100">
            <a:solidFill>
              <a:srgbClr val="FFC800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4394005" y="469681"/>
            <a:ext cx="1572117" cy="157211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800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828012" y="903688"/>
            <a:ext cx="704103" cy="704103"/>
          </a:xfrm>
          <a:custGeom>
            <a:avLst/>
            <a:gdLst/>
            <a:ahLst/>
            <a:cxnLst/>
            <a:rect r="r" b="b" t="t" l="l"/>
            <a:pathLst>
              <a:path h="704103" w="704103">
                <a:moveTo>
                  <a:pt x="0" y="0"/>
                </a:moveTo>
                <a:lnTo>
                  <a:pt x="704104" y="0"/>
                </a:lnTo>
                <a:lnTo>
                  <a:pt x="704104" y="704104"/>
                </a:lnTo>
                <a:lnTo>
                  <a:pt x="0" y="704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1501013" y="1666291"/>
            <a:ext cx="734274" cy="727850"/>
          </a:xfrm>
          <a:custGeom>
            <a:avLst/>
            <a:gdLst/>
            <a:ahLst/>
            <a:cxnLst/>
            <a:rect r="r" b="b" t="t" l="l"/>
            <a:pathLst>
              <a:path h="727850" w="734274">
                <a:moveTo>
                  <a:pt x="0" y="0"/>
                </a:moveTo>
                <a:lnTo>
                  <a:pt x="734274" y="0"/>
                </a:lnTo>
                <a:lnTo>
                  <a:pt x="734274" y="727850"/>
                </a:lnTo>
                <a:lnTo>
                  <a:pt x="0" y="7278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9795493" y="4262526"/>
            <a:ext cx="650131" cy="650131"/>
          </a:xfrm>
          <a:custGeom>
            <a:avLst/>
            <a:gdLst/>
            <a:ahLst/>
            <a:cxnLst/>
            <a:rect r="r" b="b" t="t" l="l"/>
            <a:pathLst>
              <a:path h="650131" w="650131">
                <a:moveTo>
                  <a:pt x="0" y="0"/>
                </a:moveTo>
                <a:lnTo>
                  <a:pt x="650131" y="0"/>
                </a:lnTo>
                <a:lnTo>
                  <a:pt x="650131" y="650130"/>
                </a:lnTo>
                <a:lnTo>
                  <a:pt x="0" y="6501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2216204" y="5652678"/>
            <a:ext cx="731486" cy="731486"/>
          </a:xfrm>
          <a:custGeom>
            <a:avLst/>
            <a:gdLst/>
            <a:ahLst/>
            <a:cxnLst/>
            <a:rect r="r" b="b" t="t" l="l"/>
            <a:pathLst>
              <a:path h="731486" w="731486">
                <a:moveTo>
                  <a:pt x="0" y="0"/>
                </a:moveTo>
                <a:lnTo>
                  <a:pt x="731486" y="0"/>
                </a:lnTo>
                <a:lnTo>
                  <a:pt x="731486" y="731486"/>
                </a:lnTo>
                <a:lnTo>
                  <a:pt x="0" y="7314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5752779" y="6949469"/>
            <a:ext cx="579086" cy="579086"/>
          </a:xfrm>
          <a:custGeom>
            <a:avLst/>
            <a:gdLst/>
            <a:ahLst/>
            <a:cxnLst/>
            <a:rect r="r" b="b" t="t" l="l"/>
            <a:pathLst>
              <a:path h="579086" w="579086">
                <a:moveTo>
                  <a:pt x="0" y="0"/>
                </a:moveTo>
                <a:lnTo>
                  <a:pt x="579087" y="0"/>
                </a:lnTo>
                <a:lnTo>
                  <a:pt x="579087" y="579086"/>
                </a:lnTo>
                <a:lnTo>
                  <a:pt x="0" y="5790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515242" y="8816238"/>
            <a:ext cx="4560503" cy="1470762"/>
          </a:xfrm>
          <a:custGeom>
            <a:avLst/>
            <a:gdLst/>
            <a:ahLst/>
            <a:cxnLst/>
            <a:rect r="r" b="b" t="t" l="l"/>
            <a:pathLst>
              <a:path h="1470762" w="4560503">
                <a:moveTo>
                  <a:pt x="0" y="0"/>
                </a:moveTo>
                <a:lnTo>
                  <a:pt x="4560503" y="0"/>
                </a:lnTo>
                <a:lnTo>
                  <a:pt x="4560503" y="1470762"/>
                </a:lnTo>
                <a:lnTo>
                  <a:pt x="0" y="147076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15552" y="1129857"/>
            <a:ext cx="9179942" cy="2076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listoga"/>
                <a:ea typeface="Calistoga"/>
                <a:cs typeface="Calistoga"/>
                <a:sym typeface="Calistoga"/>
              </a:rPr>
              <a:t>INFOSYS  SPRINGBOARD INTERNSHIP  6.0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558" y="4463766"/>
            <a:ext cx="9179942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listoga"/>
                <a:ea typeface="Calistoga"/>
                <a:cs typeface="Calistoga"/>
                <a:sym typeface="Calistoga"/>
              </a:rPr>
              <a:t>FLEET MANAGEMENT </a:t>
            </a:r>
          </a:p>
          <a:p>
            <a:pPr algn="ctr">
              <a:lnSpc>
                <a:spcPts val="8400"/>
              </a:lnSpc>
            </a:pPr>
            <a:r>
              <a:rPr lang="en-US" sz="60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listoga"/>
                <a:ea typeface="Calistoga"/>
                <a:cs typeface="Calistoga"/>
                <a:sym typeface="Calistoga"/>
              </a:rPr>
              <a:t>AND ROUTE </a:t>
            </a:r>
          </a:p>
          <a:p>
            <a:pPr algn="ctr">
              <a:lnSpc>
                <a:spcPts val="8400"/>
              </a:lnSpc>
            </a:pPr>
            <a:r>
              <a:rPr lang="en-US" sz="60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listoga"/>
                <a:ea typeface="Calistoga"/>
                <a:cs typeface="Calistoga"/>
                <a:sym typeface="Calistoga"/>
              </a:rPr>
              <a:t>OPTIMIZATION SYSTEM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95492" y="8628299"/>
            <a:ext cx="5098075" cy="42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listoga"/>
                <a:ea typeface="Calistoga"/>
                <a:cs typeface="Calistoga"/>
                <a:sym typeface="Calistoga"/>
              </a:rPr>
              <a:t>PRESENTED BY :  SAGARIKA  NAIK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2174" y="4210642"/>
            <a:ext cx="13189531" cy="5896019"/>
            <a:chOff x="0" y="0"/>
            <a:chExt cx="4013959" cy="17943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13960" cy="1794331"/>
            </a:xfrm>
            <a:custGeom>
              <a:avLst/>
              <a:gdLst/>
              <a:ahLst/>
              <a:cxnLst/>
              <a:rect r="r" b="b" t="t" l="l"/>
              <a:pathLst>
                <a:path h="1794331" w="4013960">
                  <a:moveTo>
                    <a:pt x="11153" y="0"/>
                  </a:moveTo>
                  <a:lnTo>
                    <a:pt x="4002807" y="0"/>
                  </a:lnTo>
                  <a:cubicBezTo>
                    <a:pt x="4008967" y="0"/>
                    <a:pt x="4013960" y="4993"/>
                    <a:pt x="4013960" y="11153"/>
                  </a:cubicBezTo>
                  <a:lnTo>
                    <a:pt x="4013960" y="1783178"/>
                  </a:lnTo>
                  <a:cubicBezTo>
                    <a:pt x="4013960" y="1786136"/>
                    <a:pt x="4012785" y="1788973"/>
                    <a:pt x="4010693" y="1791064"/>
                  </a:cubicBezTo>
                  <a:cubicBezTo>
                    <a:pt x="4008602" y="1793156"/>
                    <a:pt x="4005765" y="1794331"/>
                    <a:pt x="4002807" y="1794331"/>
                  </a:cubicBezTo>
                  <a:lnTo>
                    <a:pt x="11153" y="1794331"/>
                  </a:lnTo>
                  <a:cubicBezTo>
                    <a:pt x="8195" y="1794331"/>
                    <a:pt x="5358" y="1793156"/>
                    <a:pt x="3266" y="1791064"/>
                  </a:cubicBezTo>
                  <a:cubicBezTo>
                    <a:pt x="1175" y="1788973"/>
                    <a:pt x="0" y="1786136"/>
                    <a:pt x="0" y="1783178"/>
                  </a:cubicBezTo>
                  <a:lnTo>
                    <a:pt x="0" y="11153"/>
                  </a:lnTo>
                  <a:cubicBezTo>
                    <a:pt x="0" y="8195"/>
                    <a:pt x="1175" y="5358"/>
                    <a:pt x="3266" y="3266"/>
                  </a:cubicBezTo>
                  <a:cubicBezTo>
                    <a:pt x="5358" y="1175"/>
                    <a:pt x="8195" y="0"/>
                    <a:pt x="11153" y="0"/>
                  </a:cubicBezTo>
                  <a:close/>
                </a:path>
              </a:pathLst>
            </a:custGeom>
            <a:solidFill>
              <a:srgbClr val="25404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013959" cy="1841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57229" y="3800982"/>
            <a:ext cx="13106926" cy="5739236"/>
            <a:chOff x="0" y="0"/>
            <a:chExt cx="3988820" cy="17466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88820" cy="1746617"/>
            </a:xfrm>
            <a:custGeom>
              <a:avLst/>
              <a:gdLst/>
              <a:ahLst/>
              <a:cxnLst/>
              <a:rect r="r" b="b" t="t" l="l"/>
              <a:pathLst>
                <a:path h="1746617" w="3988820">
                  <a:moveTo>
                    <a:pt x="11223" y="0"/>
                  </a:moveTo>
                  <a:lnTo>
                    <a:pt x="3977597" y="0"/>
                  </a:lnTo>
                  <a:cubicBezTo>
                    <a:pt x="3980574" y="0"/>
                    <a:pt x="3983428" y="1182"/>
                    <a:pt x="3985533" y="3287"/>
                  </a:cubicBezTo>
                  <a:cubicBezTo>
                    <a:pt x="3987638" y="5392"/>
                    <a:pt x="3988820" y="8246"/>
                    <a:pt x="3988820" y="11223"/>
                  </a:cubicBezTo>
                  <a:lnTo>
                    <a:pt x="3988820" y="1735394"/>
                  </a:lnTo>
                  <a:cubicBezTo>
                    <a:pt x="3988820" y="1741593"/>
                    <a:pt x="3983796" y="1746617"/>
                    <a:pt x="3977597" y="1746617"/>
                  </a:cubicBezTo>
                  <a:lnTo>
                    <a:pt x="11223" y="1746617"/>
                  </a:lnTo>
                  <a:cubicBezTo>
                    <a:pt x="5025" y="1746617"/>
                    <a:pt x="0" y="1741593"/>
                    <a:pt x="0" y="1735394"/>
                  </a:cubicBezTo>
                  <a:lnTo>
                    <a:pt x="0" y="11223"/>
                  </a:lnTo>
                  <a:cubicBezTo>
                    <a:pt x="0" y="5025"/>
                    <a:pt x="5025" y="0"/>
                    <a:pt x="11223" y="0"/>
                  </a:cubicBezTo>
                  <a:close/>
                </a:path>
              </a:pathLst>
            </a:custGeom>
            <a:solidFill>
              <a:srgbClr val="1576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988820" cy="179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90537" y="3233540"/>
            <a:ext cx="13106926" cy="5739236"/>
            <a:chOff x="0" y="0"/>
            <a:chExt cx="3988820" cy="17466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8820" cy="1746617"/>
            </a:xfrm>
            <a:custGeom>
              <a:avLst/>
              <a:gdLst/>
              <a:ahLst/>
              <a:cxnLst/>
              <a:rect r="r" b="b" t="t" l="l"/>
              <a:pathLst>
                <a:path h="1746617" w="3988820">
                  <a:moveTo>
                    <a:pt x="11223" y="0"/>
                  </a:moveTo>
                  <a:lnTo>
                    <a:pt x="3977597" y="0"/>
                  </a:lnTo>
                  <a:cubicBezTo>
                    <a:pt x="3980574" y="0"/>
                    <a:pt x="3983428" y="1182"/>
                    <a:pt x="3985533" y="3287"/>
                  </a:cubicBezTo>
                  <a:cubicBezTo>
                    <a:pt x="3987638" y="5392"/>
                    <a:pt x="3988820" y="8246"/>
                    <a:pt x="3988820" y="11223"/>
                  </a:cubicBezTo>
                  <a:lnTo>
                    <a:pt x="3988820" y="1735394"/>
                  </a:lnTo>
                  <a:cubicBezTo>
                    <a:pt x="3988820" y="1741593"/>
                    <a:pt x="3983796" y="1746617"/>
                    <a:pt x="3977597" y="1746617"/>
                  </a:cubicBezTo>
                  <a:lnTo>
                    <a:pt x="11223" y="1746617"/>
                  </a:lnTo>
                  <a:cubicBezTo>
                    <a:pt x="5025" y="1746617"/>
                    <a:pt x="0" y="1741593"/>
                    <a:pt x="0" y="1735394"/>
                  </a:cubicBezTo>
                  <a:lnTo>
                    <a:pt x="0" y="11223"/>
                  </a:lnTo>
                  <a:cubicBezTo>
                    <a:pt x="0" y="5025"/>
                    <a:pt x="5025" y="0"/>
                    <a:pt x="11223" y="0"/>
                  </a:cubicBezTo>
                  <a:close/>
                </a:path>
              </a:pathLst>
            </a:custGeom>
            <a:solidFill>
              <a:srgbClr val="539B5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988820" cy="179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6733" y="6689917"/>
            <a:ext cx="15632806" cy="2646403"/>
          </a:xfrm>
          <a:custGeom>
            <a:avLst/>
            <a:gdLst/>
            <a:ahLst/>
            <a:cxnLst/>
            <a:rect r="r" b="b" t="t" l="l"/>
            <a:pathLst>
              <a:path h="2646403" w="15632806">
                <a:moveTo>
                  <a:pt x="0" y="0"/>
                </a:moveTo>
                <a:lnTo>
                  <a:pt x="15632805" y="0"/>
                </a:lnTo>
                <a:lnTo>
                  <a:pt x="15632805" y="2646402"/>
                </a:lnTo>
                <a:lnTo>
                  <a:pt x="0" y="2646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-22920" r="0" b="-3174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947472" y="2650108"/>
            <a:ext cx="13106926" cy="5739236"/>
            <a:chOff x="0" y="0"/>
            <a:chExt cx="3988820" cy="17466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88820" cy="1746617"/>
            </a:xfrm>
            <a:custGeom>
              <a:avLst/>
              <a:gdLst/>
              <a:ahLst/>
              <a:cxnLst/>
              <a:rect r="r" b="b" t="t" l="l"/>
              <a:pathLst>
                <a:path h="1746617" w="3988820">
                  <a:moveTo>
                    <a:pt x="11223" y="0"/>
                  </a:moveTo>
                  <a:lnTo>
                    <a:pt x="3977597" y="0"/>
                  </a:lnTo>
                  <a:cubicBezTo>
                    <a:pt x="3980574" y="0"/>
                    <a:pt x="3983428" y="1182"/>
                    <a:pt x="3985533" y="3287"/>
                  </a:cubicBezTo>
                  <a:cubicBezTo>
                    <a:pt x="3987638" y="5392"/>
                    <a:pt x="3988820" y="8246"/>
                    <a:pt x="3988820" y="11223"/>
                  </a:cubicBezTo>
                  <a:lnTo>
                    <a:pt x="3988820" y="1735394"/>
                  </a:lnTo>
                  <a:cubicBezTo>
                    <a:pt x="3988820" y="1741593"/>
                    <a:pt x="3983796" y="1746617"/>
                    <a:pt x="3977597" y="1746617"/>
                  </a:cubicBezTo>
                  <a:lnTo>
                    <a:pt x="11223" y="1746617"/>
                  </a:lnTo>
                  <a:cubicBezTo>
                    <a:pt x="5025" y="1746617"/>
                    <a:pt x="0" y="1741593"/>
                    <a:pt x="0" y="1735394"/>
                  </a:cubicBezTo>
                  <a:lnTo>
                    <a:pt x="0" y="11223"/>
                  </a:lnTo>
                  <a:cubicBezTo>
                    <a:pt x="0" y="5025"/>
                    <a:pt x="5025" y="0"/>
                    <a:pt x="11223" y="0"/>
                  </a:cubicBezTo>
                  <a:close/>
                </a:path>
              </a:pathLst>
            </a:custGeom>
            <a:solidFill>
              <a:srgbClr val="A4B73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988820" cy="179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8900" y="2273882"/>
            <a:ext cx="13106926" cy="5739236"/>
            <a:chOff x="0" y="0"/>
            <a:chExt cx="3988820" cy="17466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88820" cy="1746617"/>
            </a:xfrm>
            <a:custGeom>
              <a:avLst/>
              <a:gdLst/>
              <a:ahLst/>
              <a:cxnLst/>
              <a:rect r="r" b="b" t="t" l="l"/>
              <a:pathLst>
                <a:path h="1746617" w="3988820">
                  <a:moveTo>
                    <a:pt x="11223" y="0"/>
                  </a:moveTo>
                  <a:lnTo>
                    <a:pt x="3977597" y="0"/>
                  </a:lnTo>
                  <a:cubicBezTo>
                    <a:pt x="3980574" y="0"/>
                    <a:pt x="3983428" y="1182"/>
                    <a:pt x="3985533" y="3287"/>
                  </a:cubicBezTo>
                  <a:cubicBezTo>
                    <a:pt x="3987638" y="5392"/>
                    <a:pt x="3988820" y="8246"/>
                    <a:pt x="3988820" y="11223"/>
                  </a:cubicBezTo>
                  <a:lnTo>
                    <a:pt x="3988820" y="1735394"/>
                  </a:lnTo>
                  <a:cubicBezTo>
                    <a:pt x="3988820" y="1741593"/>
                    <a:pt x="3983796" y="1746617"/>
                    <a:pt x="3977597" y="1746617"/>
                  </a:cubicBezTo>
                  <a:lnTo>
                    <a:pt x="11223" y="1746617"/>
                  </a:lnTo>
                  <a:cubicBezTo>
                    <a:pt x="5025" y="1746617"/>
                    <a:pt x="0" y="1741593"/>
                    <a:pt x="0" y="1735394"/>
                  </a:cubicBezTo>
                  <a:lnTo>
                    <a:pt x="0" y="11223"/>
                  </a:lnTo>
                  <a:cubicBezTo>
                    <a:pt x="0" y="5025"/>
                    <a:pt x="5025" y="0"/>
                    <a:pt x="11223" y="0"/>
                  </a:cubicBezTo>
                  <a:close/>
                </a:path>
              </a:pathLst>
            </a:custGeom>
            <a:solidFill>
              <a:srgbClr val="FFC8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988820" cy="179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47472" y="2913197"/>
            <a:ext cx="11951327" cy="4547061"/>
            <a:chOff x="0" y="0"/>
            <a:chExt cx="3637138" cy="13838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7138" cy="1383804"/>
            </a:xfrm>
            <a:custGeom>
              <a:avLst/>
              <a:gdLst/>
              <a:ahLst/>
              <a:cxnLst/>
              <a:rect r="r" b="b" t="t" l="l"/>
              <a:pathLst>
                <a:path h="1383804" w="3637138">
                  <a:moveTo>
                    <a:pt x="12308" y="0"/>
                  </a:moveTo>
                  <a:lnTo>
                    <a:pt x="3624830" y="0"/>
                  </a:lnTo>
                  <a:cubicBezTo>
                    <a:pt x="3628094" y="0"/>
                    <a:pt x="3631224" y="1297"/>
                    <a:pt x="3633533" y="3605"/>
                  </a:cubicBezTo>
                  <a:cubicBezTo>
                    <a:pt x="3635841" y="5913"/>
                    <a:pt x="3637138" y="9044"/>
                    <a:pt x="3637138" y="12308"/>
                  </a:cubicBezTo>
                  <a:lnTo>
                    <a:pt x="3637138" y="1371496"/>
                  </a:lnTo>
                  <a:cubicBezTo>
                    <a:pt x="3637138" y="1378293"/>
                    <a:pt x="3631627" y="1383804"/>
                    <a:pt x="3624830" y="1383804"/>
                  </a:cubicBezTo>
                  <a:lnTo>
                    <a:pt x="12308" y="1383804"/>
                  </a:lnTo>
                  <a:cubicBezTo>
                    <a:pt x="5510" y="1383804"/>
                    <a:pt x="0" y="1378293"/>
                    <a:pt x="0" y="1371496"/>
                  </a:cubicBezTo>
                  <a:lnTo>
                    <a:pt x="0" y="12308"/>
                  </a:lnTo>
                  <a:cubicBezTo>
                    <a:pt x="0" y="5510"/>
                    <a:pt x="5510" y="0"/>
                    <a:pt x="1230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37138" cy="1431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427301" y="3594100"/>
            <a:ext cx="10991669" cy="348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Managing a fleet efficiently is a major challenge for organizations handling numerous vehicles an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drivers. Existing systems are often inadequate because they fail to provide:</a:t>
            </a:r>
          </a:p>
          <a:p>
            <a:pPr algn="l">
              <a:lnSpc>
                <a:spcPts val="3499"/>
              </a:lnSpc>
            </a:pPr>
          </a:p>
          <a:p>
            <a:pPr algn="l" marL="539745" indent="-269872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Unified access to vehicle and driver information.</a:t>
            </a:r>
          </a:p>
          <a:p>
            <a:pPr algn="l" marL="539745" indent="-269872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monitoring and route analysis.</a:t>
            </a:r>
          </a:p>
          <a:p>
            <a:pPr algn="l" marL="539745" indent="-269872" lvl="1">
              <a:lnSpc>
                <a:spcPts val="34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Actionable insights on vehicle condition and overall performance.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349587" y="8469645"/>
            <a:ext cx="2464211" cy="1817355"/>
          </a:xfrm>
          <a:custGeom>
            <a:avLst/>
            <a:gdLst/>
            <a:ahLst/>
            <a:cxnLst/>
            <a:rect r="r" b="b" t="t" l="l"/>
            <a:pathLst>
              <a:path h="1817355" w="2464211">
                <a:moveTo>
                  <a:pt x="0" y="0"/>
                </a:moveTo>
                <a:lnTo>
                  <a:pt x="2464211" y="0"/>
                </a:lnTo>
                <a:lnTo>
                  <a:pt x="2464211" y="1817355"/>
                </a:lnTo>
                <a:lnTo>
                  <a:pt x="0" y="1817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812174" y="847725"/>
            <a:ext cx="10663652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645849" y="5263487"/>
            <a:ext cx="2598523" cy="1962089"/>
            <a:chOff x="0" y="0"/>
            <a:chExt cx="920281" cy="6948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0281" cy="694884"/>
            </a:xfrm>
            <a:custGeom>
              <a:avLst/>
              <a:gdLst/>
              <a:ahLst/>
              <a:cxnLst/>
              <a:rect r="r" b="b" t="t" l="l"/>
              <a:pathLst>
                <a:path h="694884" w="920281">
                  <a:moveTo>
                    <a:pt x="717081" y="0"/>
                  </a:moveTo>
                  <a:lnTo>
                    <a:pt x="0" y="0"/>
                  </a:lnTo>
                  <a:lnTo>
                    <a:pt x="0" y="694884"/>
                  </a:lnTo>
                  <a:lnTo>
                    <a:pt x="717081" y="694884"/>
                  </a:lnTo>
                  <a:lnTo>
                    <a:pt x="920281" y="347442"/>
                  </a:lnTo>
                  <a:lnTo>
                    <a:pt x="717081" y="0"/>
                  </a:lnTo>
                  <a:close/>
                </a:path>
              </a:pathLst>
            </a:custGeom>
            <a:solidFill>
              <a:srgbClr val="25404E">
                <a:alpha val="5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05981" cy="742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0678447" y="5263487"/>
            <a:ext cx="2598523" cy="1962089"/>
            <a:chOff x="0" y="0"/>
            <a:chExt cx="920281" cy="6948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0281" cy="694884"/>
            </a:xfrm>
            <a:custGeom>
              <a:avLst/>
              <a:gdLst/>
              <a:ahLst/>
              <a:cxnLst/>
              <a:rect r="r" b="b" t="t" l="l"/>
              <a:pathLst>
                <a:path h="694884" w="920281">
                  <a:moveTo>
                    <a:pt x="717081" y="0"/>
                  </a:moveTo>
                  <a:lnTo>
                    <a:pt x="0" y="0"/>
                  </a:lnTo>
                  <a:lnTo>
                    <a:pt x="0" y="694884"/>
                  </a:lnTo>
                  <a:lnTo>
                    <a:pt x="717081" y="694884"/>
                  </a:lnTo>
                  <a:lnTo>
                    <a:pt x="920281" y="347442"/>
                  </a:lnTo>
                  <a:lnTo>
                    <a:pt x="717081" y="0"/>
                  </a:lnTo>
                  <a:close/>
                </a:path>
              </a:pathLst>
            </a:custGeom>
            <a:solidFill>
              <a:srgbClr val="157664">
                <a:alpha val="5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05981" cy="742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7711046" y="5263487"/>
            <a:ext cx="2598523" cy="1962089"/>
            <a:chOff x="0" y="0"/>
            <a:chExt cx="920281" cy="6948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0281" cy="694884"/>
            </a:xfrm>
            <a:custGeom>
              <a:avLst/>
              <a:gdLst/>
              <a:ahLst/>
              <a:cxnLst/>
              <a:rect r="r" b="b" t="t" l="l"/>
              <a:pathLst>
                <a:path h="694884" w="920281">
                  <a:moveTo>
                    <a:pt x="717081" y="0"/>
                  </a:moveTo>
                  <a:lnTo>
                    <a:pt x="0" y="0"/>
                  </a:lnTo>
                  <a:lnTo>
                    <a:pt x="0" y="694884"/>
                  </a:lnTo>
                  <a:lnTo>
                    <a:pt x="717081" y="694884"/>
                  </a:lnTo>
                  <a:lnTo>
                    <a:pt x="920281" y="347442"/>
                  </a:lnTo>
                  <a:lnTo>
                    <a:pt x="717081" y="0"/>
                  </a:lnTo>
                  <a:close/>
                </a:path>
              </a:pathLst>
            </a:custGeom>
            <a:solidFill>
              <a:srgbClr val="539B5C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05981" cy="742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4743645" y="5263487"/>
            <a:ext cx="2598523" cy="1962089"/>
            <a:chOff x="0" y="0"/>
            <a:chExt cx="920281" cy="6948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0281" cy="694884"/>
            </a:xfrm>
            <a:custGeom>
              <a:avLst/>
              <a:gdLst/>
              <a:ahLst/>
              <a:cxnLst/>
              <a:rect r="r" b="b" t="t" l="l"/>
              <a:pathLst>
                <a:path h="694884" w="920281">
                  <a:moveTo>
                    <a:pt x="717081" y="0"/>
                  </a:moveTo>
                  <a:lnTo>
                    <a:pt x="0" y="0"/>
                  </a:lnTo>
                  <a:lnTo>
                    <a:pt x="0" y="694884"/>
                  </a:lnTo>
                  <a:lnTo>
                    <a:pt x="717081" y="694884"/>
                  </a:lnTo>
                  <a:lnTo>
                    <a:pt x="920281" y="347442"/>
                  </a:lnTo>
                  <a:lnTo>
                    <a:pt x="717081" y="0"/>
                  </a:lnTo>
                  <a:close/>
                </a:path>
              </a:pathLst>
            </a:custGeom>
            <a:solidFill>
              <a:srgbClr val="A4B73C">
                <a:alpha val="5490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05981" cy="742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3188962" y="7991399"/>
            <a:ext cx="11642692" cy="0"/>
          </a:xfrm>
          <a:prstGeom prst="line">
            <a:avLst/>
          </a:prstGeom>
          <a:ln cap="rnd" w="76200">
            <a:solidFill>
              <a:srgbClr val="C3C0B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5400000">
            <a:off x="1776244" y="5263487"/>
            <a:ext cx="2598523" cy="1962089"/>
            <a:chOff x="0" y="0"/>
            <a:chExt cx="920281" cy="6948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0281" cy="694884"/>
            </a:xfrm>
            <a:custGeom>
              <a:avLst/>
              <a:gdLst/>
              <a:ahLst/>
              <a:cxnLst/>
              <a:rect r="r" b="b" t="t" l="l"/>
              <a:pathLst>
                <a:path h="694884" w="920281">
                  <a:moveTo>
                    <a:pt x="717081" y="0"/>
                  </a:moveTo>
                  <a:lnTo>
                    <a:pt x="0" y="0"/>
                  </a:lnTo>
                  <a:lnTo>
                    <a:pt x="0" y="694884"/>
                  </a:lnTo>
                  <a:lnTo>
                    <a:pt x="717081" y="694884"/>
                  </a:lnTo>
                  <a:lnTo>
                    <a:pt x="920281" y="347442"/>
                  </a:lnTo>
                  <a:lnTo>
                    <a:pt x="717081" y="0"/>
                  </a:lnTo>
                  <a:close/>
                </a:path>
              </a:pathLst>
            </a:custGeom>
            <a:solidFill>
              <a:srgbClr val="FFC801">
                <a:alpha val="5490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05981" cy="742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924446" y="6373719"/>
            <a:ext cx="2360846" cy="618112"/>
          </a:xfrm>
          <a:custGeom>
            <a:avLst/>
            <a:gdLst/>
            <a:ahLst/>
            <a:cxnLst/>
            <a:rect r="r" b="b" t="t" l="l"/>
            <a:pathLst>
              <a:path h="618112" w="2360846">
                <a:moveTo>
                  <a:pt x="0" y="0"/>
                </a:moveTo>
                <a:lnTo>
                  <a:pt x="2360845" y="0"/>
                </a:lnTo>
                <a:lnTo>
                  <a:pt x="2360845" y="618112"/>
                </a:lnTo>
                <a:lnTo>
                  <a:pt x="0" y="618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885620" y="6373719"/>
            <a:ext cx="2360846" cy="618112"/>
          </a:xfrm>
          <a:custGeom>
            <a:avLst/>
            <a:gdLst/>
            <a:ahLst/>
            <a:cxnLst/>
            <a:rect r="r" b="b" t="t" l="l"/>
            <a:pathLst>
              <a:path h="618112" w="2360846">
                <a:moveTo>
                  <a:pt x="0" y="0"/>
                </a:moveTo>
                <a:lnTo>
                  <a:pt x="2360845" y="0"/>
                </a:lnTo>
                <a:lnTo>
                  <a:pt x="2360845" y="618112"/>
                </a:lnTo>
                <a:lnTo>
                  <a:pt x="0" y="618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918219" y="2867307"/>
            <a:ext cx="2314574" cy="3815468"/>
            <a:chOff x="0" y="0"/>
            <a:chExt cx="609600" cy="10048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" cy="1004897"/>
            </a:xfrm>
            <a:custGeom>
              <a:avLst/>
              <a:gdLst/>
              <a:ahLst/>
              <a:cxnLst/>
              <a:rect r="r" b="b" t="t" l="l"/>
              <a:pathLst>
                <a:path h="1004897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004897"/>
                  </a:lnTo>
                  <a:lnTo>
                    <a:pt x="0" y="10048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09600" cy="1052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885620" y="2867307"/>
            <a:ext cx="2314574" cy="3815468"/>
            <a:chOff x="0" y="0"/>
            <a:chExt cx="609600" cy="10048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9600" cy="1004897"/>
            </a:xfrm>
            <a:custGeom>
              <a:avLst/>
              <a:gdLst/>
              <a:ahLst/>
              <a:cxnLst/>
              <a:rect r="r" b="b" t="t" l="l"/>
              <a:pathLst>
                <a:path h="1004897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004897"/>
                  </a:lnTo>
                  <a:lnTo>
                    <a:pt x="0" y="10048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09600" cy="1052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846793" y="6373719"/>
            <a:ext cx="2360846" cy="618112"/>
          </a:xfrm>
          <a:custGeom>
            <a:avLst/>
            <a:gdLst/>
            <a:ahLst/>
            <a:cxnLst/>
            <a:rect r="r" b="b" t="t" l="l"/>
            <a:pathLst>
              <a:path h="618112" w="2360846">
                <a:moveTo>
                  <a:pt x="0" y="0"/>
                </a:moveTo>
                <a:lnTo>
                  <a:pt x="2360846" y="0"/>
                </a:lnTo>
                <a:lnTo>
                  <a:pt x="2360846" y="618112"/>
                </a:lnTo>
                <a:lnTo>
                  <a:pt x="0" y="618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807967" y="6373719"/>
            <a:ext cx="2360846" cy="618112"/>
          </a:xfrm>
          <a:custGeom>
            <a:avLst/>
            <a:gdLst/>
            <a:ahLst/>
            <a:cxnLst/>
            <a:rect r="r" b="b" t="t" l="l"/>
            <a:pathLst>
              <a:path h="618112" w="2360846">
                <a:moveTo>
                  <a:pt x="0" y="0"/>
                </a:moveTo>
                <a:lnTo>
                  <a:pt x="2360846" y="0"/>
                </a:lnTo>
                <a:lnTo>
                  <a:pt x="2360846" y="618112"/>
                </a:lnTo>
                <a:lnTo>
                  <a:pt x="0" y="618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711727" y="6373719"/>
            <a:ext cx="2360846" cy="618112"/>
          </a:xfrm>
          <a:custGeom>
            <a:avLst/>
            <a:gdLst/>
            <a:ahLst/>
            <a:cxnLst/>
            <a:rect r="r" b="b" t="t" l="l"/>
            <a:pathLst>
              <a:path h="618112" w="2360846">
                <a:moveTo>
                  <a:pt x="0" y="0"/>
                </a:moveTo>
                <a:lnTo>
                  <a:pt x="2360846" y="0"/>
                </a:lnTo>
                <a:lnTo>
                  <a:pt x="2360846" y="618112"/>
                </a:lnTo>
                <a:lnTo>
                  <a:pt x="0" y="618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7853021" y="2867307"/>
            <a:ext cx="2314574" cy="3815468"/>
            <a:chOff x="0" y="0"/>
            <a:chExt cx="609600" cy="10048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9600" cy="1004897"/>
            </a:xfrm>
            <a:custGeom>
              <a:avLst/>
              <a:gdLst/>
              <a:ahLst/>
              <a:cxnLst/>
              <a:rect r="r" b="b" t="t" l="l"/>
              <a:pathLst>
                <a:path h="1004897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004897"/>
                  </a:lnTo>
                  <a:lnTo>
                    <a:pt x="0" y="10048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09600" cy="1052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820422" y="2867307"/>
            <a:ext cx="2314574" cy="3815468"/>
            <a:chOff x="0" y="0"/>
            <a:chExt cx="609600" cy="10048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" cy="1004897"/>
            </a:xfrm>
            <a:custGeom>
              <a:avLst/>
              <a:gdLst/>
              <a:ahLst/>
              <a:cxnLst/>
              <a:rect r="r" b="b" t="t" l="l"/>
              <a:pathLst>
                <a:path h="1004897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004897"/>
                  </a:lnTo>
                  <a:lnTo>
                    <a:pt x="0" y="10048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09600" cy="1052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87823" y="2867307"/>
            <a:ext cx="2314574" cy="3815468"/>
            <a:chOff x="0" y="0"/>
            <a:chExt cx="609600" cy="100489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" cy="1004897"/>
            </a:xfrm>
            <a:custGeom>
              <a:avLst/>
              <a:gdLst/>
              <a:ahLst/>
              <a:cxnLst/>
              <a:rect r="r" b="b" t="t" l="l"/>
              <a:pathLst>
                <a:path h="1004897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004897"/>
                  </a:lnTo>
                  <a:lnTo>
                    <a:pt x="0" y="10048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09600" cy="1052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829196" y="3344435"/>
            <a:ext cx="2761179" cy="806860"/>
            <a:chOff x="0" y="0"/>
            <a:chExt cx="1578906" cy="4613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78906" cy="461381"/>
            </a:xfrm>
            <a:custGeom>
              <a:avLst/>
              <a:gdLst/>
              <a:ahLst/>
              <a:cxnLst/>
              <a:rect r="r" b="b" t="t" l="l"/>
              <a:pathLst>
                <a:path h="461381" w="1578906">
                  <a:moveTo>
                    <a:pt x="1375706" y="0"/>
                  </a:moveTo>
                  <a:lnTo>
                    <a:pt x="0" y="0"/>
                  </a:lnTo>
                  <a:lnTo>
                    <a:pt x="0" y="461381"/>
                  </a:lnTo>
                  <a:lnTo>
                    <a:pt x="1375706" y="461381"/>
                  </a:lnTo>
                  <a:lnTo>
                    <a:pt x="1578906" y="230691"/>
                  </a:lnTo>
                  <a:lnTo>
                    <a:pt x="1375706" y="0"/>
                  </a:lnTo>
                  <a:close/>
                </a:path>
              </a:pathLst>
            </a:custGeom>
            <a:solidFill>
              <a:srgbClr val="FFC801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464606" cy="50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Driver &amp; Vehicle Management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418584" y="3344435"/>
            <a:ext cx="3133308" cy="806860"/>
            <a:chOff x="0" y="0"/>
            <a:chExt cx="1791698" cy="4613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91698" cy="461381"/>
            </a:xfrm>
            <a:custGeom>
              <a:avLst/>
              <a:gdLst/>
              <a:ahLst/>
              <a:cxnLst/>
              <a:rect r="r" b="b" t="t" l="l"/>
              <a:pathLst>
                <a:path h="461381" w="1791698">
                  <a:moveTo>
                    <a:pt x="0" y="0"/>
                  </a:moveTo>
                  <a:lnTo>
                    <a:pt x="1588498" y="0"/>
                  </a:lnTo>
                  <a:lnTo>
                    <a:pt x="1791698" y="230691"/>
                  </a:lnTo>
                  <a:lnTo>
                    <a:pt x="1588498" y="461381"/>
                  </a:lnTo>
                  <a:lnTo>
                    <a:pt x="0" y="461381"/>
                  </a:lnTo>
                  <a:lnTo>
                    <a:pt x="203200" y="2306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B73C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77800" y="-47625"/>
              <a:ext cx="1537698" cy="50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Booking Module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386504" y="3344435"/>
            <a:ext cx="3133308" cy="806860"/>
            <a:chOff x="0" y="0"/>
            <a:chExt cx="1791698" cy="4613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91698" cy="461381"/>
            </a:xfrm>
            <a:custGeom>
              <a:avLst/>
              <a:gdLst/>
              <a:ahLst/>
              <a:cxnLst/>
              <a:rect r="r" b="b" t="t" l="l"/>
              <a:pathLst>
                <a:path h="461381" w="1791698">
                  <a:moveTo>
                    <a:pt x="0" y="0"/>
                  </a:moveTo>
                  <a:lnTo>
                    <a:pt x="1588498" y="0"/>
                  </a:lnTo>
                  <a:lnTo>
                    <a:pt x="1791698" y="230691"/>
                  </a:lnTo>
                  <a:lnTo>
                    <a:pt x="1588498" y="461381"/>
                  </a:lnTo>
                  <a:lnTo>
                    <a:pt x="0" y="461381"/>
                  </a:lnTo>
                  <a:lnTo>
                    <a:pt x="203200" y="2306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9B5C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77800" y="-47625"/>
              <a:ext cx="1537698" cy="50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Vehicle Condition Monitoring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358095" y="3344435"/>
            <a:ext cx="3133308" cy="806860"/>
            <a:chOff x="0" y="0"/>
            <a:chExt cx="1791698" cy="46138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91698" cy="461381"/>
            </a:xfrm>
            <a:custGeom>
              <a:avLst/>
              <a:gdLst/>
              <a:ahLst/>
              <a:cxnLst/>
              <a:rect r="r" b="b" t="t" l="l"/>
              <a:pathLst>
                <a:path h="461381" w="1791698">
                  <a:moveTo>
                    <a:pt x="0" y="0"/>
                  </a:moveTo>
                  <a:lnTo>
                    <a:pt x="1588498" y="0"/>
                  </a:lnTo>
                  <a:lnTo>
                    <a:pt x="1791698" y="230691"/>
                  </a:lnTo>
                  <a:lnTo>
                    <a:pt x="1588498" y="461381"/>
                  </a:lnTo>
                  <a:lnTo>
                    <a:pt x="0" y="461381"/>
                  </a:lnTo>
                  <a:lnTo>
                    <a:pt x="203200" y="2306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766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77800" y="-47625"/>
              <a:ext cx="1537698" cy="50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Route Distance Tool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325496" y="3344435"/>
            <a:ext cx="3133308" cy="806860"/>
            <a:chOff x="0" y="0"/>
            <a:chExt cx="1791698" cy="46138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91698" cy="461381"/>
            </a:xfrm>
            <a:custGeom>
              <a:avLst/>
              <a:gdLst/>
              <a:ahLst/>
              <a:cxnLst/>
              <a:rect r="r" b="b" t="t" l="l"/>
              <a:pathLst>
                <a:path h="461381" w="1791698">
                  <a:moveTo>
                    <a:pt x="0" y="0"/>
                  </a:moveTo>
                  <a:lnTo>
                    <a:pt x="1588498" y="0"/>
                  </a:lnTo>
                  <a:lnTo>
                    <a:pt x="1791698" y="230691"/>
                  </a:lnTo>
                  <a:lnTo>
                    <a:pt x="1588498" y="461381"/>
                  </a:lnTo>
                  <a:lnTo>
                    <a:pt x="0" y="461381"/>
                  </a:lnTo>
                  <a:lnTo>
                    <a:pt x="203200" y="2306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404E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77800" y="-47625"/>
              <a:ext cx="1537698" cy="50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Analytics Dashboard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962049" y="7877943"/>
            <a:ext cx="226912" cy="226912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801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929450" y="7877943"/>
            <a:ext cx="226912" cy="226912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B73C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896852" y="7877943"/>
            <a:ext cx="226912" cy="226912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9B5C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864253" y="7877943"/>
            <a:ext cx="226912" cy="226912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7664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831654" y="7877943"/>
            <a:ext cx="226912" cy="226912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404E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2254129" y="8291315"/>
            <a:ext cx="1642752" cy="31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Phase 1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221531" y="8291315"/>
            <a:ext cx="1642752" cy="31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Phase 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188932" y="8291315"/>
            <a:ext cx="1642752" cy="31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Phase 3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156333" y="8291315"/>
            <a:ext cx="1642752" cy="31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Phase 4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123734" y="8291315"/>
            <a:ext cx="1642752" cy="31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Phase 5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233217" y="4461734"/>
            <a:ext cx="1642752" cy="163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Add edit and view driver and vehicles details in one place with driver data sync with via Gmail.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244666" y="4629432"/>
            <a:ext cx="1642752" cy="1359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Lets you schedule drivers manually using your email for each booking or trip request.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8302388" y="4737959"/>
            <a:ext cx="1642752" cy="1359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Monitors key aspects like engine status, fuel and battery usage.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177245" y="4491319"/>
            <a:ext cx="1642752" cy="191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Calculate the straight line distance between two selected locations(not influenced by traffic conditions).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097021" y="4461734"/>
            <a:ext cx="1642752" cy="191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Provides visual insights through bar and pie charts that highlight driver activity and overall vehicle health.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896882" y="923925"/>
            <a:ext cx="10663652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KEY FEATURES</a:t>
            </a:r>
          </a:p>
        </p:txBody>
      </p:sp>
      <p:sp>
        <p:nvSpPr>
          <p:cNvPr name="Freeform 79" id="79"/>
          <p:cNvSpPr/>
          <p:nvPr/>
        </p:nvSpPr>
        <p:spPr>
          <a:xfrm flipH="false" flipV="false" rot="0">
            <a:off x="349587" y="8469645"/>
            <a:ext cx="2464211" cy="1817355"/>
          </a:xfrm>
          <a:custGeom>
            <a:avLst/>
            <a:gdLst/>
            <a:ahLst/>
            <a:cxnLst/>
            <a:rect r="r" b="b" t="t" l="l"/>
            <a:pathLst>
              <a:path h="1817355" w="2464211">
                <a:moveTo>
                  <a:pt x="0" y="0"/>
                </a:moveTo>
                <a:lnTo>
                  <a:pt x="2464211" y="0"/>
                </a:lnTo>
                <a:lnTo>
                  <a:pt x="2464211" y="1817355"/>
                </a:lnTo>
                <a:lnTo>
                  <a:pt x="0" y="1817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8018" y="4629303"/>
            <a:ext cx="2507456" cy="1665989"/>
            <a:chOff x="0" y="0"/>
            <a:chExt cx="660400" cy="438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438779"/>
            </a:xfrm>
            <a:custGeom>
              <a:avLst/>
              <a:gdLst/>
              <a:ahLst/>
              <a:cxnLst/>
              <a:rect r="r" b="b" t="t" l="l"/>
              <a:pathLst>
                <a:path h="438779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194"/>
                  </a:cubicBezTo>
                  <a:lnTo>
                    <a:pt x="660400" y="438779"/>
                  </a:lnTo>
                  <a:lnTo>
                    <a:pt x="0" y="438779"/>
                  </a:lnTo>
                  <a:lnTo>
                    <a:pt x="0" y="3202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C801">
                <a:alpha val="6784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9375"/>
              <a:ext cx="660400" cy="359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89145" y="4629303"/>
            <a:ext cx="2507456" cy="1665989"/>
            <a:chOff x="0" y="0"/>
            <a:chExt cx="660400" cy="438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438779"/>
            </a:xfrm>
            <a:custGeom>
              <a:avLst/>
              <a:gdLst/>
              <a:ahLst/>
              <a:cxnLst/>
              <a:rect r="r" b="b" t="t" l="l"/>
              <a:pathLst>
                <a:path h="438779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194"/>
                  </a:cubicBezTo>
                  <a:lnTo>
                    <a:pt x="660400" y="438779"/>
                  </a:lnTo>
                  <a:lnTo>
                    <a:pt x="0" y="438779"/>
                  </a:lnTo>
                  <a:lnTo>
                    <a:pt x="0" y="3202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A4B73C">
                <a:alpha val="6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375"/>
              <a:ext cx="660400" cy="359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052758" y="8088740"/>
            <a:ext cx="2584739" cy="676732"/>
          </a:xfrm>
          <a:custGeom>
            <a:avLst/>
            <a:gdLst/>
            <a:ahLst/>
            <a:cxnLst/>
            <a:rect r="r" b="b" t="t" l="l"/>
            <a:pathLst>
              <a:path h="676732" w="2584739">
                <a:moveTo>
                  <a:pt x="0" y="0"/>
                </a:moveTo>
                <a:lnTo>
                  <a:pt x="2584738" y="0"/>
                </a:lnTo>
                <a:lnTo>
                  <a:pt x="2584738" y="676732"/>
                </a:lnTo>
                <a:lnTo>
                  <a:pt x="0" y="67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16267" y="8088740"/>
            <a:ext cx="2584739" cy="676732"/>
          </a:xfrm>
          <a:custGeom>
            <a:avLst/>
            <a:gdLst/>
            <a:ahLst/>
            <a:cxnLst/>
            <a:rect r="r" b="b" t="t" l="l"/>
            <a:pathLst>
              <a:path h="676732" w="2584739">
                <a:moveTo>
                  <a:pt x="0" y="0"/>
                </a:moveTo>
                <a:lnTo>
                  <a:pt x="2584739" y="0"/>
                </a:lnTo>
                <a:lnTo>
                  <a:pt x="2584739" y="676732"/>
                </a:lnTo>
                <a:lnTo>
                  <a:pt x="0" y="67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26538" y="8088740"/>
            <a:ext cx="2584739" cy="676732"/>
          </a:xfrm>
          <a:custGeom>
            <a:avLst/>
            <a:gdLst/>
            <a:ahLst/>
            <a:cxnLst/>
            <a:rect r="r" b="b" t="t" l="l"/>
            <a:pathLst>
              <a:path h="676732" w="2584739">
                <a:moveTo>
                  <a:pt x="0" y="0"/>
                </a:moveTo>
                <a:lnTo>
                  <a:pt x="2584739" y="0"/>
                </a:lnTo>
                <a:lnTo>
                  <a:pt x="2584739" y="676732"/>
                </a:lnTo>
                <a:lnTo>
                  <a:pt x="0" y="67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8018" y="8088740"/>
            <a:ext cx="2584739" cy="676732"/>
          </a:xfrm>
          <a:custGeom>
            <a:avLst/>
            <a:gdLst/>
            <a:ahLst/>
            <a:cxnLst/>
            <a:rect r="r" b="b" t="t" l="l"/>
            <a:pathLst>
              <a:path h="676732" w="2584739">
                <a:moveTo>
                  <a:pt x="0" y="0"/>
                </a:moveTo>
                <a:lnTo>
                  <a:pt x="2584738" y="0"/>
                </a:lnTo>
                <a:lnTo>
                  <a:pt x="2584738" y="676732"/>
                </a:lnTo>
                <a:lnTo>
                  <a:pt x="0" y="67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49376" y="6501448"/>
            <a:ext cx="2584739" cy="2468881"/>
            <a:chOff x="0" y="0"/>
            <a:chExt cx="680754" cy="650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0754" cy="650240"/>
            </a:xfrm>
            <a:custGeom>
              <a:avLst/>
              <a:gdLst/>
              <a:ahLst/>
              <a:cxnLst/>
              <a:rect r="r" b="b" t="t" l="l"/>
              <a:pathLst>
                <a:path h="650240" w="680754">
                  <a:moveTo>
                    <a:pt x="56910" y="0"/>
                  </a:moveTo>
                  <a:lnTo>
                    <a:pt x="623845" y="0"/>
                  </a:lnTo>
                  <a:cubicBezTo>
                    <a:pt x="638938" y="0"/>
                    <a:pt x="653413" y="5996"/>
                    <a:pt x="664086" y="16668"/>
                  </a:cubicBezTo>
                  <a:cubicBezTo>
                    <a:pt x="674758" y="27341"/>
                    <a:pt x="680754" y="41816"/>
                    <a:pt x="680754" y="56910"/>
                  </a:cubicBezTo>
                  <a:lnTo>
                    <a:pt x="680754" y="593331"/>
                  </a:lnTo>
                  <a:cubicBezTo>
                    <a:pt x="680754" y="608424"/>
                    <a:pt x="674758" y="622899"/>
                    <a:pt x="664086" y="633572"/>
                  </a:cubicBezTo>
                  <a:cubicBezTo>
                    <a:pt x="653413" y="644244"/>
                    <a:pt x="638938" y="650240"/>
                    <a:pt x="623845" y="650240"/>
                  </a:cubicBezTo>
                  <a:lnTo>
                    <a:pt x="56910" y="650240"/>
                  </a:lnTo>
                  <a:cubicBezTo>
                    <a:pt x="41816" y="650240"/>
                    <a:pt x="27341" y="644244"/>
                    <a:pt x="16668" y="633572"/>
                  </a:cubicBezTo>
                  <a:cubicBezTo>
                    <a:pt x="5996" y="622899"/>
                    <a:pt x="0" y="608424"/>
                    <a:pt x="0" y="593331"/>
                  </a:cubicBezTo>
                  <a:lnTo>
                    <a:pt x="0" y="56910"/>
                  </a:lnTo>
                  <a:cubicBezTo>
                    <a:pt x="0" y="41816"/>
                    <a:pt x="5996" y="27341"/>
                    <a:pt x="16668" y="16668"/>
                  </a:cubicBezTo>
                  <a:cubicBezTo>
                    <a:pt x="27341" y="5996"/>
                    <a:pt x="41816" y="0"/>
                    <a:pt x="569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80754" cy="697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689145" y="6501448"/>
            <a:ext cx="2584739" cy="2468881"/>
            <a:chOff x="0" y="0"/>
            <a:chExt cx="680754" cy="65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0754" cy="650240"/>
            </a:xfrm>
            <a:custGeom>
              <a:avLst/>
              <a:gdLst/>
              <a:ahLst/>
              <a:cxnLst/>
              <a:rect r="r" b="b" t="t" l="l"/>
              <a:pathLst>
                <a:path h="650240" w="680754">
                  <a:moveTo>
                    <a:pt x="56910" y="0"/>
                  </a:moveTo>
                  <a:lnTo>
                    <a:pt x="623845" y="0"/>
                  </a:lnTo>
                  <a:cubicBezTo>
                    <a:pt x="638938" y="0"/>
                    <a:pt x="653413" y="5996"/>
                    <a:pt x="664086" y="16668"/>
                  </a:cubicBezTo>
                  <a:cubicBezTo>
                    <a:pt x="674758" y="27341"/>
                    <a:pt x="680754" y="41816"/>
                    <a:pt x="680754" y="56910"/>
                  </a:cubicBezTo>
                  <a:lnTo>
                    <a:pt x="680754" y="593331"/>
                  </a:lnTo>
                  <a:cubicBezTo>
                    <a:pt x="680754" y="608424"/>
                    <a:pt x="674758" y="622899"/>
                    <a:pt x="664086" y="633572"/>
                  </a:cubicBezTo>
                  <a:cubicBezTo>
                    <a:pt x="653413" y="644244"/>
                    <a:pt x="638938" y="650240"/>
                    <a:pt x="623845" y="650240"/>
                  </a:cubicBezTo>
                  <a:lnTo>
                    <a:pt x="56910" y="650240"/>
                  </a:lnTo>
                  <a:cubicBezTo>
                    <a:pt x="41816" y="650240"/>
                    <a:pt x="27341" y="644244"/>
                    <a:pt x="16668" y="633572"/>
                  </a:cubicBezTo>
                  <a:cubicBezTo>
                    <a:pt x="5996" y="622899"/>
                    <a:pt x="0" y="608424"/>
                    <a:pt x="0" y="593331"/>
                  </a:cubicBezTo>
                  <a:lnTo>
                    <a:pt x="0" y="56910"/>
                  </a:lnTo>
                  <a:cubicBezTo>
                    <a:pt x="0" y="41816"/>
                    <a:pt x="5996" y="27341"/>
                    <a:pt x="16668" y="16668"/>
                  </a:cubicBezTo>
                  <a:cubicBezTo>
                    <a:pt x="27341" y="5996"/>
                    <a:pt x="41816" y="0"/>
                    <a:pt x="569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80754" cy="697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51631" y="6501448"/>
            <a:ext cx="2584739" cy="2468881"/>
            <a:chOff x="0" y="0"/>
            <a:chExt cx="680754" cy="65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0754" cy="650240"/>
            </a:xfrm>
            <a:custGeom>
              <a:avLst/>
              <a:gdLst/>
              <a:ahLst/>
              <a:cxnLst/>
              <a:rect r="r" b="b" t="t" l="l"/>
              <a:pathLst>
                <a:path h="650240" w="680754">
                  <a:moveTo>
                    <a:pt x="56910" y="0"/>
                  </a:moveTo>
                  <a:lnTo>
                    <a:pt x="623845" y="0"/>
                  </a:lnTo>
                  <a:cubicBezTo>
                    <a:pt x="638938" y="0"/>
                    <a:pt x="653413" y="5996"/>
                    <a:pt x="664086" y="16668"/>
                  </a:cubicBezTo>
                  <a:cubicBezTo>
                    <a:pt x="674758" y="27341"/>
                    <a:pt x="680754" y="41816"/>
                    <a:pt x="680754" y="56910"/>
                  </a:cubicBezTo>
                  <a:lnTo>
                    <a:pt x="680754" y="593331"/>
                  </a:lnTo>
                  <a:cubicBezTo>
                    <a:pt x="680754" y="608424"/>
                    <a:pt x="674758" y="622899"/>
                    <a:pt x="664086" y="633572"/>
                  </a:cubicBezTo>
                  <a:cubicBezTo>
                    <a:pt x="653413" y="644244"/>
                    <a:pt x="638938" y="650240"/>
                    <a:pt x="623845" y="650240"/>
                  </a:cubicBezTo>
                  <a:lnTo>
                    <a:pt x="56910" y="650240"/>
                  </a:lnTo>
                  <a:cubicBezTo>
                    <a:pt x="41816" y="650240"/>
                    <a:pt x="27341" y="644244"/>
                    <a:pt x="16668" y="633572"/>
                  </a:cubicBezTo>
                  <a:cubicBezTo>
                    <a:pt x="5996" y="622899"/>
                    <a:pt x="0" y="608424"/>
                    <a:pt x="0" y="593331"/>
                  </a:cubicBezTo>
                  <a:lnTo>
                    <a:pt x="0" y="56910"/>
                  </a:lnTo>
                  <a:cubicBezTo>
                    <a:pt x="0" y="41816"/>
                    <a:pt x="5996" y="27341"/>
                    <a:pt x="16668" y="16668"/>
                  </a:cubicBezTo>
                  <a:cubicBezTo>
                    <a:pt x="27341" y="5996"/>
                    <a:pt x="41816" y="0"/>
                    <a:pt x="569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80754" cy="697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52758" y="6501448"/>
            <a:ext cx="2584739" cy="2468881"/>
            <a:chOff x="0" y="0"/>
            <a:chExt cx="680754" cy="650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0754" cy="650240"/>
            </a:xfrm>
            <a:custGeom>
              <a:avLst/>
              <a:gdLst/>
              <a:ahLst/>
              <a:cxnLst/>
              <a:rect r="r" b="b" t="t" l="l"/>
              <a:pathLst>
                <a:path h="650240" w="680754">
                  <a:moveTo>
                    <a:pt x="56910" y="0"/>
                  </a:moveTo>
                  <a:lnTo>
                    <a:pt x="623845" y="0"/>
                  </a:lnTo>
                  <a:cubicBezTo>
                    <a:pt x="638938" y="0"/>
                    <a:pt x="653413" y="5996"/>
                    <a:pt x="664086" y="16668"/>
                  </a:cubicBezTo>
                  <a:cubicBezTo>
                    <a:pt x="674758" y="27341"/>
                    <a:pt x="680754" y="41816"/>
                    <a:pt x="680754" y="56910"/>
                  </a:cubicBezTo>
                  <a:lnTo>
                    <a:pt x="680754" y="593331"/>
                  </a:lnTo>
                  <a:cubicBezTo>
                    <a:pt x="680754" y="608424"/>
                    <a:pt x="674758" y="622899"/>
                    <a:pt x="664086" y="633572"/>
                  </a:cubicBezTo>
                  <a:cubicBezTo>
                    <a:pt x="653413" y="644244"/>
                    <a:pt x="638938" y="650240"/>
                    <a:pt x="623845" y="650240"/>
                  </a:cubicBezTo>
                  <a:lnTo>
                    <a:pt x="56910" y="650240"/>
                  </a:lnTo>
                  <a:cubicBezTo>
                    <a:pt x="41816" y="650240"/>
                    <a:pt x="27341" y="644244"/>
                    <a:pt x="16668" y="633572"/>
                  </a:cubicBezTo>
                  <a:cubicBezTo>
                    <a:pt x="5996" y="622899"/>
                    <a:pt x="0" y="608424"/>
                    <a:pt x="0" y="593331"/>
                  </a:cubicBezTo>
                  <a:lnTo>
                    <a:pt x="0" y="56910"/>
                  </a:lnTo>
                  <a:cubicBezTo>
                    <a:pt x="0" y="41816"/>
                    <a:pt x="5996" y="27341"/>
                    <a:pt x="16668" y="16668"/>
                  </a:cubicBezTo>
                  <a:cubicBezTo>
                    <a:pt x="27341" y="5996"/>
                    <a:pt x="41816" y="0"/>
                    <a:pt x="569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80754" cy="697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4253885" y="8088740"/>
            <a:ext cx="2584739" cy="676732"/>
          </a:xfrm>
          <a:custGeom>
            <a:avLst/>
            <a:gdLst/>
            <a:ahLst/>
            <a:cxnLst/>
            <a:rect r="r" b="b" t="t" l="l"/>
            <a:pathLst>
              <a:path h="676732" w="2584739">
                <a:moveTo>
                  <a:pt x="0" y="0"/>
                </a:moveTo>
                <a:lnTo>
                  <a:pt x="2584739" y="0"/>
                </a:lnTo>
                <a:lnTo>
                  <a:pt x="2584739" y="676732"/>
                </a:lnTo>
                <a:lnTo>
                  <a:pt x="0" y="67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4285196" y="6501448"/>
            <a:ext cx="2584739" cy="2468881"/>
            <a:chOff x="0" y="0"/>
            <a:chExt cx="680754" cy="650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0754" cy="650240"/>
            </a:xfrm>
            <a:custGeom>
              <a:avLst/>
              <a:gdLst/>
              <a:ahLst/>
              <a:cxnLst/>
              <a:rect r="r" b="b" t="t" l="l"/>
              <a:pathLst>
                <a:path h="650240" w="680754">
                  <a:moveTo>
                    <a:pt x="56910" y="0"/>
                  </a:moveTo>
                  <a:lnTo>
                    <a:pt x="623845" y="0"/>
                  </a:lnTo>
                  <a:cubicBezTo>
                    <a:pt x="638938" y="0"/>
                    <a:pt x="653413" y="5996"/>
                    <a:pt x="664086" y="16668"/>
                  </a:cubicBezTo>
                  <a:cubicBezTo>
                    <a:pt x="674758" y="27341"/>
                    <a:pt x="680754" y="41816"/>
                    <a:pt x="680754" y="56910"/>
                  </a:cubicBezTo>
                  <a:lnTo>
                    <a:pt x="680754" y="593331"/>
                  </a:lnTo>
                  <a:cubicBezTo>
                    <a:pt x="680754" y="608424"/>
                    <a:pt x="674758" y="622899"/>
                    <a:pt x="664086" y="633572"/>
                  </a:cubicBezTo>
                  <a:cubicBezTo>
                    <a:pt x="653413" y="644244"/>
                    <a:pt x="638938" y="650240"/>
                    <a:pt x="623845" y="650240"/>
                  </a:cubicBezTo>
                  <a:lnTo>
                    <a:pt x="56910" y="650240"/>
                  </a:lnTo>
                  <a:cubicBezTo>
                    <a:pt x="41816" y="650240"/>
                    <a:pt x="27341" y="644244"/>
                    <a:pt x="16668" y="633572"/>
                  </a:cubicBezTo>
                  <a:cubicBezTo>
                    <a:pt x="5996" y="622899"/>
                    <a:pt x="0" y="608424"/>
                    <a:pt x="0" y="593331"/>
                  </a:cubicBezTo>
                  <a:lnTo>
                    <a:pt x="0" y="56910"/>
                  </a:lnTo>
                  <a:cubicBezTo>
                    <a:pt x="0" y="41816"/>
                    <a:pt x="5996" y="27341"/>
                    <a:pt x="16668" y="16668"/>
                  </a:cubicBezTo>
                  <a:cubicBezTo>
                    <a:pt x="27341" y="5996"/>
                    <a:pt x="41816" y="0"/>
                    <a:pt x="569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80754" cy="697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90272" y="4629303"/>
            <a:ext cx="2507456" cy="1665989"/>
            <a:chOff x="0" y="0"/>
            <a:chExt cx="660400" cy="4387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400" cy="438779"/>
            </a:xfrm>
            <a:custGeom>
              <a:avLst/>
              <a:gdLst/>
              <a:ahLst/>
              <a:cxnLst/>
              <a:rect r="r" b="b" t="t" l="l"/>
              <a:pathLst>
                <a:path h="438779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194"/>
                  </a:cubicBezTo>
                  <a:lnTo>
                    <a:pt x="660400" y="438779"/>
                  </a:lnTo>
                  <a:lnTo>
                    <a:pt x="0" y="438779"/>
                  </a:lnTo>
                  <a:lnTo>
                    <a:pt x="0" y="3202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539B5C">
                <a:alpha val="67843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79375"/>
              <a:ext cx="660400" cy="359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091399" y="4629303"/>
            <a:ext cx="2507456" cy="1665989"/>
            <a:chOff x="0" y="0"/>
            <a:chExt cx="660400" cy="4387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0400" cy="438779"/>
            </a:xfrm>
            <a:custGeom>
              <a:avLst/>
              <a:gdLst/>
              <a:ahLst/>
              <a:cxnLst/>
              <a:rect r="r" b="b" t="t" l="l"/>
              <a:pathLst>
                <a:path h="438779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194"/>
                  </a:cubicBezTo>
                  <a:lnTo>
                    <a:pt x="660400" y="438779"/>
                  </a:lnTo>
                  <a:lnTo>
                    <a:pt x="0" y="438779"/>
                  </a:lnTo>
                  <a:lnTo>
                    <a:pt x="0" y="3202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157664">
                <a:alpha val="67843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79375"/>
              <a:ext cx="660400" cy="359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292526" y="4629303"/>
            <a:ext cx="2507456" cy="1665989"/>
            <a:chOff x="0" y="0"/>
            <a:chExt cx="660400" cy="43877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0400" cy="438779"/>
            </a:xfrm>
            <a:custGeom>
              <a:avLst/>
              <a:gdLst/>
              <a:ahLst/>
              <a:cxnLst/>
              <a:rect r="r" b="b" t="t" l="l"/>
              <a:pathLst>
                <a:path h="438779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194"/>
                  </a:cubicBezTo>
                  <a:lnTo>
                    <a:pt x="660400" y="438779"/>
                  </a:lnTo>
                  <a:lnTo>
                    <a:pt x="0" y="438779"/>
                  </a:lnTo>
                  <a:lnTo>
                    <a:pt x="0" y="3202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25404E">
                <a:alpha val="67843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79375"/>
              <a:ext cx="660400" cy="359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41182" y="5680939"/>
            <a:ext cx="3201127" cy="820509"/>
            <a:chOff x="0" y="0"/>
            <a:chExt cx="843095" cy="21610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43095" cy="216101"/>
            </a:xfrm>
            <a:custGeom>
              <a:avLst/>
              <a:gdLst/>
              <a:ahLst/>
              <a:cxnLst/>
              <a:rect r="r" b="b" t="t" l="l"/>
              <a:pathLst>
                <a:path h="216101" w="843095">
                  <a:moveTo>
                    <a:pt x="0" y="0"/>
                  </a:moveTo>
                  <a:lnTo>
                    <a:pt x="843095" y="0"/>
                  </a:lnTo>
                  <a:lnTo>
                    <a:pt x="843095" y="216101"/>
                  </a:lnTo>
                  <a:lnTo>
                    <a:pt x="0" y="216101"/>
                  </a:lnTo>
                  <a:close/>
                </a:path>
              </a:pathLst>
            </a:custGeom>
            <a:solidFill>
              <a:srgbClr val="FFC80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43095" cy="26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Authentication &amp; Role Management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342309" y="5680939"/>
            <a:ext cx="3201127" cy="820509"/>
            <a:chOff x="0" y="0"/>
            <a:chExt cx="843095" cy="21610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43095" cy="216101"/>
            </a:xfrm>
            <a:custGeom>
              <a:avLst/>
              <a:gdLst/>
              <a:ahLst/>
              <a:cxnLst/>
              <a:rect r="r" b="b" t="t" l="l"/>
              <a:pathLst>
                <a:path h="216101" w="843095">
                  <a:moveTo>
                    <a:pt x="0" y="0"/>
                  </a:moveTo>
                  <a:lnTo>
                    <a:pt x="843095" y="0"/>
                  </a:lnTo>
                  <a:lnTo>
                    <a:pt x="843095" y="216101"/>
                  </a:lnTo>
                  <a:lnTo>
                    <a:pt x="0" y="216101"/>
                  </a:lnTo>
                  <a:close/>
                </a:path>
              </a:pathLst>
            </a:custGeom>
            <a:solidFill>
              <a:srgbClr val="A4B73C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43095" cy="26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Fleet Inventory &amp; Vehicle Telemetry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543436" y="5680939"/>
            <a:ext cx="3201127" cy="820509"/>
            <a:chOff x="0" y="0"/>
            <a:chExt cx="843095" cy="21610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43095" cy="216101"/>
            </a:xfrm>
            <a:custGeom>
              <a:avLst/>
              <a:gdLst/>
              <a:ahLst/>
              <a:cxnLst/>
              <a:rect r="r" b="b" t="t" l="l"/>
              <a:pathLst>
                <a:path h="216101" w="843095">
                  <a:moveTo>
                    <a:pt x="0" y="0"/>
                  </a:moveTo>
                  <a:lnTo>
                    <a:pt x="843095" y="0"/>
                  </a:lnTo>
                  <a:lnTo>
                    <a:pt x="843095" y="216101"/>
                  </a:lnTo>
                  <a:lnTo>
                    <a:pt x="0" y="216101"/>
                  </a:lnTo>
                  <a:close/>
                </a:path>
              </a:pathLst>
            </a:custGeom>
            <a:solidFill>
              <a:srgbClr val="539B5C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43095" cy="26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AI Route &amp; Load Optimization Engine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744564" y="5680939"/>
            <a:ext cx="3201127" cy="820509"/>
            <a:chOff x="0" y="0"/>
            <a:chExt cx="843095" cy="21610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43095" cy="216101"/>
            </a:xfrm>
            <a:custGeom>
              <a:avLst/>
              <a:gdLst/>
              <a:ahLst/>
              <a:cxnLst/>
              <a:rect r="r" b="b" t="t" l="l"/>
              <a:pathLst>
                <a:path h="216101" w="843095">
                  <a:moveTo>
                    <a:pt x="0" y="0"/>
                  </a:moveTo>
                  <a:lnTo>
                    <a:pt x="843095" y="0"/>
                  </a:lnTo>
                  <a:lnTo>
                    <a:pt x="843095" y="216101"/>
                  </a:lnTo>
                  <a:lnTo>
                    <a:pt x="0" y="216101"/>
                  </a:lnTo>
                  <a:close/>
                </a:path>
              </a:pathLst>
            </a:custGeom>
            <a:solidFill>
              <a:srgbClr val="157664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43095" cy="26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Customer Booking &amp; Smart Recommendations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945691" y="5680939"/>
            <a:ext cx="3201127" cy="820509"/>
            <a:chOff x="0" y="0"/>
            <a:chExt cx="843095" cy="21610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43095" cy="216101"/>
            </a:xfrm>
            <a:custGeom>
              <a:avLst/>
              <a:gdLst/>
              <a:ahLst/>
              <a:cxnLst/>
              <a:rect r="r" b="b" t="t" l="l"/>
              <a:pathLst>
                <a:path h="216101" w="843095">
                  <a:moveTo>
                    <a:pt x="0" y="0"/>
                  </a:moveTo>
                  <a:lnTo>
                    <a:pt x="843095" y="0"/>
                  </a:lnTo>
                  <a:lnTo>
                    <a:pt x="843095" y="216101"/>
                  </a:lnTo>
                  <a:lnTo>
                    <a:pt x="0" y="216101"/>
                  </a:lnTo>
                  <a:close/>
                </a:path>
              </a:pathLst>
            </a:custGeom>
            <a:solidFill>
              <a:srgbClr val="25404E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43095" cy="26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Amin Dashboard &amp; Urban Mobility Insights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2558922" y="4964809"/>
            <a:ext cx="365647" cy="487530"/>
          </a:xfrm>
          <a:custGeom>
            <a:avLst/>
            <a:gdLst/>
            <a:ahLst/>
            <a:cxnLst/>
            <a:rect r="r" b="b" t="t" l="l"/>
            <a:pathLst>
              <a:path h="487530" w="365647">
                <a:moveTo>
                  <a:pt x="0" y="0"/>
                </a:moveTo>
                <a:lnTo>
                  <a:pt x="365647" y="0"/>
                </a:lnTo>
                <a:lnTo>
                  <a:pt x="365647" y="487530"/>
                </a:lnTo>
                <a:lnTo>
                  <a:pt x="0" y="487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3" id="53"/>
          <p:cNvSpPr/>
          <p:nvPr/>
        </p:nvSpPr>
        <p:spPr>
          <a:xfrm>
            <a:off x="1123950" y="3713134"/>
            <a:ext cx="16135350" cy="0"/>
          </a:xfrm>
          <a:prstGeom prst="line">
            <a:avLst/>
          </a:prstGeom>
          <a:ln cap="rnd" w="133350">
            <a:solidFill>
              <a:srgbClr val="E4E2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5401106" y="3567986"/>
            <a:ext cx="290296" cy="290296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404E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199979" y="3567986"/>
            <a:ext cx="290296" cy="290296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7664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0" id="60"/>
          <p:cNvSpPr/>
          <p:nvPr/>
        </p:nvSpPr>
        <p:spPr>
          <a:xfrm flipH="true">
            <a:off x="2741746" y="3858282"/>
            <a:ext cx="0" cy="771022"/>
          </a:xfrm>
          <a:prstGeom prst="line">
            <a:avLst/>
          </a:prstGeom>
          <a:ln cap="flat" w="28575">
            <a:solidFill>
              <a:srgbClr val="FFC8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5942873" y="3858282"/>
            <a:ext cx="0" cy="771022"/>
          </a:xfrm>
          <a:prstGeom prst="line">
            <a:avLst/>
          </a:prstGeom>
          <a:ln cap="flat" w="28575">
            <a:solidFill>
              <a:srgbClr val="A5B73C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9144000" y="3858282"/>
            <a:ext cx="0" cy="771022"/>
          </a:xfrm>
          <a:prstGeom prst="line">
            <a:avLst/>
          </a:prstGeom>
          <a:ln cap="flat" w="28575">
            <a:solidFill>
              <a:srgbClr val="478D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12345127" y="3858282"/>
            <a:ext cx="0" cy="771022"/>
          </a:xfrm>
          <a:prstGeom prst="line">
            <a:avLst/>
          </a:prstGeom>
          <a:ln cap="flat" w="28575">
            <a:solidFill>
              <a:srgbClr val="15766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flipH="true">
            <a:off x="15546254" y="3858282"/>
            <a:ext cx="0" cy="771022"/>
          </a:xfrm>
          <a:prstGeom prst="line">
            <a:avLst/>
          </a:prstGeom>
          <a:ln cap="flat" w="28575">
            <a:solidFill>
              <a:srgbClr val="0E1C24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8998852" y="3567986"/>
            <a:ext cx="290296" cy="290296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9B5C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797725" y="3567986"/>
            <a:ext cx="290296" cy="290296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B73C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2596598" y="3567986"/>
            <a:ext cx="290296" cy="290296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801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959011" y="2997903"/>
            <a:ext cx="164275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Module 1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121497" y="2997903"/>
            <a:ext cx="164275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Module 2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322624" y="2997903"/>
            <a:ext cx="164275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Module 3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523751" y="2997903"/>
            <a:ext cx="164275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Module 4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724878" y="2997903"/>
            <a:ext cx="164275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Module 5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769079" y="7025323"/>
            <a:ext cx="1890684" cy="135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campaign begins with a concept that defines goals and audience needs.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997531" y="7025323"/>
            <a:ext cx="1890684" cy="135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 structured plan outlines channels, content focus, and measurable outcomes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8120857" y="7025323"/>
            <a:ext cx="2084927" cy="135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All members are briefed, roles clarified, and collaboration tools set up for smooth coordination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465069" y="7025323"/>
            <a:ext cx="1890684" cy="135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Drafts, visuals, </a:t>
            </a: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and messaging are refined, tested, and approved for distribution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4504271" y="7025323"/>
            <a:ext cx="2133488" cy="135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 limited rollout is launched, performance monitored, and insights gathered for improvement</a:t>
            </a:r>
          </a:p>
        </p:txBody>
      </p:sp>
      <p:sp>
        <p:nvSpPr>
          <p:cNvPr name="Freeform 84" id="84"/>
          <p:cNvSpPr/>
          <p:nvPr/>
        </p:nvSpPr>
        <p:spPr>
          <a:xfrm flipH="false" flipV="false" rot="0">
            <a:off x="5760049" y="4974768"/>
            <a:ext cx="365647" cy="487530"/>
          </a:xfrm>
          <a:custGeom>
            <a:avLst/>
            <a:gdLst/>
            <a:ahLst/>
            <a:cxnLst/>
            <a:rect r="r" b="b" t="t" l="l"/>
            <a:pathLst>
              <a:path h="487530" w="365647">
                <a:moveTo>
                  <a:pt x="0" y="0"/>
                </a:moveTo>
                <a:lnTo>
                  <a:pt x="365648" y="0"/>
                </a:lnTo>
                <a:lnTo>
                  <a:pt x="365648" y="487530"/>
                </a:lnTo>
                <a:lnTo>
                  <a:pt x="0" y="487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8958726" y="4974768"/>
            <a:ext cx="365647" cy="487530"/>
          </a:xfrm>
          <a:custGeom>
            <a:avLst/>
            <a:gdLst/>
            <a:ahLst/>
            <a:cxnLst/>
            <a:rect r="r" b="b" t="t" l="l"/>
            <a:pathLst>
              <a:path h="487530" w="365647">
                <a:moveTo>
                  <a:pt x="0" y="0"/>
                </a:moveTo>
                <a:lnTo>
                  <a:pt x="365647" y="0"/>
                </a:lnTo>
                <a:lnTo>
                  <a:pt x="365647" y="487530"/>
                </a:lnTo>
                <a:lnTo>
                  <a:pt x="0" y="487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12157403" y="4974768"/>
            <a:ext cx="365647" cy="487530"/>
          </a:xfrm>
          <a:custGeom>
            <a:avLst/>
            <a:gdLst/>
            <a:ahLst/>
            <a:cxnLst/>
            <a:rect r="r" b="b" t="t" l="l"/>
            <a:pathLst>
              <a:path h="487530" w="365647">
                <a:moveTo>
                  <a:pt x="0" y="0"/>
                </a:moveTo>
                <a:lnTo>
                  <a:pt x="365647" y="0"/>
                </a:lnTo>
                <a:lnTo>
                  <a:pt x="365647" y="487530"/>
                </a:lnTo>
                <a:lnTo>
                  <a:pt x="0" y="487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15356079" y="4974768"/>
            <a:ext cx="365647" cy="487530"/>
          </a:xfrm>
          <a:custGeom>
            <a:avLst/>
            <a:gdLst/>
            <a:ahLst/>
            <a:cxnLst/>
            <a:rect r="r" b="b" t="t" l="l"/>
            <a:pathLst>
              <a:path h="487530" w="365647">
                <a:moveTo>
                  <a:pt x="0" y="0"/>
                </a:moveTo>
                <a:lnTo>
                  <a:pt x="365648" y="0"/>
                </a:lnTo>
                <a:lnTo>
                  <a:pt x="365648" y="487530"/>
                </a:lnTo>
                <a:lnTo>
                  <a:pt x="0" y="487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8" id="88"/>
          <p:cNvSpPr txBox="true"/>
          <p:nvPr/>
        </p:nvSpPr>
        <p:spPr>
          <a:xfrm rot="0">
            <a:off x="4072756" y="923925"/>
            <a:ext cx="10663652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PROJECT MODULE 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024" y="1409503"/>
            <a:ext cx="4887004" cy="1808554"/>
            <a:chOff x="0" y="0"/>
            <a:chExt cx="1287112" cy="476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112" cy="476327"/>
            </a:xfrm>
            <a:custGeom>
              <a:avLst/>
              <a:gdLst/>
              <a:ahLst/>
              <a:cxnLst/>
              <a:rect r="r" b="b" t="t" l="l"/>
              <a:pathLst>
                <a:path h="476327" w="1287112">
                  <a:moveTo>
                    <a:pt x="0" y="0"/>
                  </a:moveTo>
                  <a:lnTo>
                    <a:pt x="1287112" y="0"/>
                  </a:lnTo>
                  <a:lnTo>
                    <a:pt x="1287112" y="476327"/>
                  </a:lnTo>
                  <a:lnTo>
                    <a:pt x="0" y="476327"/>
                  </a:lnTo>
                  <a:close/>
                </a:path>
              </a:pathLst>
            </a:custGeom>
            <a:solidFill>
              <a:srgbClr val="F3BE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87112" cy="52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2504619" y="905653"/>
            <a:ext cx="1976191" cy="2706531"/>
            <a:chOff x="0" y="0"/>
            <a:chExt cx="323825" cy="443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825" cy="443500"/>
            </a:xfrm>
            <a:custGeom>
              <a:avLst/>
              <a:gdLst/>
              <a:ahLst/>
              <a:cxnLst/>
              <a:rect r="r" b="b" t="t" l="l"/>
              <a:pathLst>
                <a:path h="443500" w="323825">
                  <a:moveTo>
                    <a:pt x="161912" y="0"/>
                  </a:moveTo>
                  <a:lnTo>
                    <a:pt x="323825" y="443500"/>
                  </a:lnTo>
                  <a:lnTo>
                    <a:pt x="0" y="443500"/>
                  </a:lnTo>
                  <a:lnTo>
                    <a:pt x="161912" y="0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50598" y="158286"/>
              <a:ext cx="222629" cy="253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39449" y="560088"/>
            <a:ext cx="9784134" cy="1698831"/>
            <a:chOff x="0" y="0"/>
            <a:chExt cx="2340593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593" cy="406400"/>
            </a:xfrm>
            <a:custGeom>
              <a:avLst/>
              <a:gdLst/>
              <a:ahLst/>
              <a:cxnLst/>
              <a:rect r="r" b="b" t="t" l="l"/>
              <a:pathLst>
                <a:path h="406400" w="2340593">
                  <a:moveTo>
                    <a:pt x="2137393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137393" y="406400"/>
                  </a:lnTo>
                  <a:lnTo>
                    <a:pt x="2340593" y="203200"/>
                  </a:lnTo>
                  <a:lnTo>
                    <a:pt x="2137393" y="0"/>
                  </a:lnTo>
                  <a:close/>
                </a:path>
              </a:pathLst>
            </a:custGeom>
            <a:solidFill>
              <a:srgbClr val="FFC80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2629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66048" y="3420226"/>
            <a:ext cx="7034124" cy="3367587"/>
          </a:xfrm>
          <a:custGeom>
            <a:avLst/>
            <a:gdLst/>
            <a:ahLst/>
            <a:cxnLst/>
            <a:rect r="r" b="b" t="t" l="l"/>
            <a:pathLst>
              <a:path h="3367587" w="7034124">
                <a:moveTo>
                  <a:pt x="0" y="0"/>
                </a:moveTo>
                <a:lnTo>
                  <a:pt x="7034124" y="0"/>
                </a:lnTo>
                <a:lnTo>
                  <a:pt x="7034124" y="3367586"/>
                </a:lnTo>
                <a:lnTo>
                  <a:pt x="0" y="3367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526594" y="6981994"/>
            <a:ext cx="7234811" cy="3123295"/>
          </a:xfrm>
          <a:custGeom>
            <a:avLst/>
            <a:gdLst/>
            <a:ahLst/>
            <a:cxnLst/>
            <a:rect r="r" b="b" t="t" l="l"/>
            <a:pathLst>
              <a:path h="3123295" w="7234811">
                <a:moveTo>
                  <a:pt x="0" y="0"/>
                </a:moveTo>
                <a:lnTo>
                  <a:pt x="7234812" y="0"/>
                </a:lnTo>
                <a:lnTo>
                  <a:pt x="7234812" y="3123296"/>
                </a:lnTo>
                <a:lnTo>
                  <a:pt x="0" y="3123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15" t="0" r="-7865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289972" y="3454549"/>
            <a:ext cx="7019019" cy="3377903"/>
          </a:xfrm>
          <a:custGeom>
            <a:avLst/>
            <a:gdLst/>
            <a:ahLst/>
            <a:cxnLst/>
            <a:rect r="r" b="b" t="t" l="l"/>
            <a:pathLst>
              <a:path h="3377903" w="7019019">
                <a:moveTo>
                  <a:pt x="0" y="0"/>
                </a:moveTo>
                <a:lnTo>
                  <a:pt x="7019019" y="0"/>
                </a:lnTo>
                <a:lnTo>
                  <a:pt x="7019019" y="3377902"/>
                </a:lnTo>
                <a:lnTo>
                  <a:pt x="0" y="3377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09020" y="7238525"/>
            <a:ext cx="1057028" cy="36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Step 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64441" y="933450"/>
            <a:ext cx="809875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&amp; REGISTER PAGE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37101" y="2703707"/>
            <a:ext cx="66623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Authenticates and authorizes users.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49587" y="8469645"/>
            <a:ext cx="2464211" cy="1817355"/>
          </a:xfrm>
          <a:custGeom>
            <a:avLst/>
            <a:gdLst/>
            <a:ahLst/>
            <a:cxnLst/>
            <a:rect r="r" b="b" t="t" l="l"/>
            <a:pathLst>
              <a:path h="1817355" w="2464211">
                <a:moveTo>
                  <a:pt x="0" y="0"/>
                </a:moveTo>
                <a:lnTo>
                  <a:pt x="2464211" y="0"/>
                </a:lnTo>
                <a:lnTo>
                  <a:pt x="2464211" y="1817355"/>
                </a:lnTo>
                <a:lnTo>
                  <a:pt x="0" y="18173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024" y="1409503"/>
            <a:ext cx="4887004" cy="1808554"/>
            <a:chOff x="0" y="0"/>
            <a:chExt cx="1287112" cy="476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112" cy="476327"/>
            </a:xfrm>
            <a:custGeom>
              <a:avLst/>
              <a:gdLst/>
              <a:ahLst/>
              <a:cxnLst/>
              <a:rect r="r" b="b" t="t" l="l"/>
              <a:pathLst>
                <a:path h="476327" w="1287112">
                  <a:moveTo>
                    <a:pt x="0" y="0"/>
                  </a:moveTo>
                  <a:lnTo>
                    <a:pt x="1287112" y="0"/>
                  </a:lnTo>
                  <a:lnTo>
                    <a:pt x="1287112" y="476327"/>
                  </a:lnTo>
                  <a:lnTo>
                    <a:pt x="0" y="476327"/>
                  </a:lnTo>
                  <a:close/>
                </a:path>
              </a:pathLst>
            </a:custGeom>
            <a:solidFill>
              <a:srgbClr val="A4B7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87112" cy="52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2504619" y="905653"/>
            <a:ext cx="1976191" cy="2706531"/>
            <a:chOff x="0" y="0"/>
            <a:chExt cx="323825" cy="443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825" cy="443500"/>
            </a:xfrm>
            <a:custGeom>
              <a:avLst/>
              <a:gdLst/>
              <a:ahLst/>
              <a:cxnLst/>
              <a:rect r="r" b="b" t="t" l="l"/>
              <a:pathLst>
                <a:path h="443500" w="323825">
                  <a:moveTo>
                    <a:pt x="161912" y="0"/>
                  </a:moveTo>
                  <a:lnTo>
                    <a:pt x="323825" y="443500"/>
                  </a:lnTo>
                  <a:lnTo>
                    <a:pt x="0" y="443500"/>
                  </a:lnTo>
                  <a:lnTo>
                    <a:pt x="161912" y="0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50598" y="158286"/>
              <a:ext cx="222629" cy="253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39449" y="560088"/>
            <a:ext cx="9784134" cy="1698831"/>
            <a:chOff x="0" y="0"/>
            <a:chExt cx="2340593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593" cy="406400"/>
            </a:xfrm>
            <a:custGeom>
              <a:avLst/>
              <a:gdLst/>
              <a:ahLst/>
              <a:cxnLst/>
              <a:rect r="r" b="b" t="t" l="l"/>
              <a:pathLst>
                <a:path h="406400" w="2340593">
                  <a:moveTo>
                    <a:pt x="2137393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137393" y="406400"/>
                  </a:lnTo>
                  <a:lnTo>
                    <a:pt x="2340593" y="203200"/>
                  </a:lnTo>
                  <a:lnTo>
                    <a:pt x="2137393" y="0"/>
                  </a:lnTo>
                  <a:close/>
                </a:path>
              </a:pathLst>
            </a:custGeom>
            <a:solidFill>
              <a:srgbClr val="A4B73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26293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279"/>
                </a:lnSpc>
                <a:spcBef>
                  <a:spcPct val="0"/>
                </a:spcBef>
              </a:pPr>
              <a:r>
                <a:rPr lang="en-US" b="true" sz="5199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FLEET DASHBOARD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274916" y="3734810"/>
            <a:ext cx="11301259" cy="5523490"/>
          </a:xfrm>
          <a:custGeom>
            <a:avLst/>
            <a:gdLst/>
            <a:ahLst/>
            <a:cxnLst/>
            <a:rect r="r" b="b" t="t" l="l"/>
            <a:pathLst>
              <a:path h="5523490" w="11301259">
                <a:moveTo>
                  <a:pt x="0" y="0"/>
                </a:moveTo>
                <a:lnTo>
                  <a:pt x="11301259" y="0"/>
                </a:lnTo>
                <a:lnTo>
                  <a:pt x="11301259" y="5523490"/>
                </a:lnTo>
                <a:lnTo>
                  <a:pt x="0" y="5523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636209" y="2703707"/>
            <a:ext cx="83748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Displays vehicles availability through graphs.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49587" y="8469645"/>
            <a:ext cx="2464211" cy="1817355"/>
          </a:xfrm>
          <a:custGeom>
            <a:avLst/>
            <a:gdLst/>
            <a:ahLst/>
            <a:cxnLst/>
            <a:rect r="r" b="b" t="t" l="l"/>
            <a:pathLst>
              <a:path h="1817355" w="2464211">
                <a:moveTo>
                  <a:pt x="0" y="0"/>
                </a:moveTo>
                <a:lnTo>
                  <a:pt x="2464211" y="0"/>
                </a:lnTo>
                <a:lnTo>
                  <a:pt x="2464211" y="1817355"/>
                </a:lnTo>
                <a:lnTo>
                  <a:pt x="0" y="1817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024" y="1409503"/>
            <a:ext cx="4887004" cy="1808554"/>
            <a:chOff x="0" y="0"/>
            <a:chExt cx="1287112" cy="476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112" cy="476327"/>
            </a:xfrm>
            <a:custGeom>
              <a:avLst/>
              <a:gdLst/>
              <a:ahLst/>
              <a:cxnLst/>
              <a:rect r="r" b="b" t="t" l="l"/>
              <a:pathLst>
                <a:path h="476327" w="1287112">
                  <a:moveTo>
                    <a:pt x="0" y="0"/>
                  </a:moveTo>
                  <a:lnTo>
                    <a:pt x="1287112" y="0"/>
                  </a:lnTo>
                  <a:lnTo>
                    <a:pt x="1287112" y="476327"/>
                  </a:lnTo>
                  <a:lnTo>
                    <a:pt x="0" y="476327"/>
                  </a:lnTo>
                  <a:close/>
                </a:path>
              </a:pathLst>
            </a:custGeom>
            <a:solidFill>
              <a:srgbClr val="539B5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87112" cy="52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2504619" y="905653"/>
            <a:ext cx="1976191" cy="2706531"/>
            <a:chOff x="0" y="0"/>
            <a:chExt cx="323825" cy="443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825" cy="443500"/>
            </a:xfrm>
            <a:custGeom>
              <a:avLst/>
              <a:gdLst/>
              <a:ahLst/>
              <a:cxnLst/>
              <a:rect r="r" b="b" t="t" l="l"/>
              <a:pathLst>
                <a:path h="443500" w="323825">
                  <a:moveTo>
                    <a:pt x="161912" y="0"/>
                  </a:moveTo>
                  <a:lnTo>
                    <a:pt x="323825" y="443500"/>
                  </a:lnTo>
                  <a:lnTo>
                    <a:pt x="0" y="443500"/>
                  </a:lnTo>
                  <a:lnTo>
                    <a:pt x="161912" y="0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50598" y="158286"/>
              <a:ext cx="222629" cy="253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39449" y="560088"/>
            <a:ext cx="9784134" cy="1698831"/>
            <a:chOff x="0" y="0"/>
            <a:chExt cx="2340593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593" cy="406400"/>
            </a:xfrm>
            <a:custGeom>
              <a:avLst/>
              <a:gdLst/>
              <a:ahLst/>
              <a:cxnLst/>
              <a:rect r="r" b="b" t="t" l="l"/>
              <a:pathLst>
                <a:path h="406400" w="2340593">
                  <a:moveTo>
                    <a:pt x="2137393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137393" y="406400"/>
                  </a:lnTo>
                  <a:lnTo>
                    <a:pt x="2340593" y="203200"/>
                  </a:lnTo>
                  <a:lnTo>
                    <a:pt x="2137393" y="0"/>
                  </a:lnTo>
                  <a:close/>
                </a:path>
              </a:pathLst>
            </a:custGeom>
            <a:solidFill>
              <a:srgbClr val="539B5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26293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279"/>
                </a:lnSpc>
                <a:spcBef>
                  <a:spcPct val="0"/>
                </a:spcBef>
              </a:pPr>
              <a:r>
                <a:rPr lang="en-US" b="true" sz="5199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VEHICLE DASHBOARD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492714" y="3522574"/>
            <a:ext cx="11301259" cy="5523490"/>
          </a:xfrm>
          <a:custGeom>
            <a:avLst/>
            <a:gdLst/>
            <a:ahLst/>
            <a:cxnLst/>
            <a:rect r="r" b="b" t="t" l="l"/>
            <a:pathLst>
              <a:path h="5523490" w="11301259">
                <a:moveTo>
                  <a:pt x="0" y="0"/>
                </a:moveTo>
                <a:lnTo>
                  <a:pt x="11301259" y="0"/>
                </a:lnTo>
                <a:lnTo>
                  <a:pt x="11301259" y="5523490"/>
                </a:lnTo>
                <a:lnTo>
                  <a:pt x="0" y="5523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49587" y="8469645"/>
            <a:ext cx="2464211" cy="1817355"/>
          </a:xfrm>
          <a:custGeom>
            <a:avLst/>
            <a:gdLst/>
            <a:ahLst/>
            <a:cxnLst/>
            <a:rect r="r" b="b" t="t" l="l"/>
            <a:pathLst>
              <a:path h="1817355" w="2464211">
                <a:moveTo>
                  <a:pt x="0" y="0"/>
                </a:moveTo>
                <a:lnTo>
                  <a:pt x="2464211" y="0"/>
                </a:lnTo>
                <a:lnTo>
                  <a:pt x="2464211" y="1817355"/>
                </a:lnTo>
                <a:lnTo>
                  <a:pt x="0" y="1817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22520" y="2703707"/>
            <a:ext cx="88584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Displays all vehicles, add/remove functionality.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024" y="1409503"/>
            <a:ext cx="4887004" cy="1808554"/>
            <a:chOff x="0" y="0"/>
            <a:chExt cx="1287112" cy="476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112" cy="476327"/>
            </a:xfrm>
            <a:custGeom>
              <a:avLst/>
              <a:gdLst/>
              <a:ahLst/>
              <a:cxnLst/>
              <a:rect r="r" b="b" t="t" l="l"/>
              <a:pathLst>
                <a:path h="476327" w="1287112">
                  <a:moveTo>
                    <a:pt x="0" y="0"/>
                  </a:moveTo>
                  <a:lnTo>
                    <a:pt x="1287112" y="0"/>
                  </a:lnTo>
                  <a:lnTo>
                    <a:pt x="1287112" y="476327"/>
                  </a:lnTo>
                  <a:lnTo>
                    <a:pt x="0" y="476327"/>
                  </a:lnTo>
                  <a:close/>
                </a:path>
              </a:pathLst>
            </a:custGeom>
            <a:solidFill>
              <a:srgbClr val="1576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87112" cy="52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2504619" y="905653"/>
            <a:ext cx="1976191" cy="2706531"/>
            <a:chOff x="0" y="0"/>
            <a:chExt cx="323825" cy="443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825" cy="443500"/>
            </a:xfrm>
            <a:custGeom>
              <a:avLst/>
              <a:gdLst/>
              <a:ahLst/>
              <a:cxnLst/>
              <a:rect r="r" b="b" t="t" l="l"/>
              <a:pathLst>
                <a:path h="443500" w="323825">
                  <a:moveTo>
                    <a:pt x="161912" y="0"/>
                  </a:moveTo>
                  <a:lnTo>
                    <a:pt x="323825" y="443500"/>
                  </a:lnTo>
                  <a:lnTo>
                    <a:pt x="0" y="443500"/>
                  </a:lnTo>
                  <a:lnTo>
                    <a:pt x="161912" y="0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50598" y="158286"/>
              <a:ext cx="222629" cy="253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39449" y="560088"/>
            <a:ext cx="9784134" cy="1698831"/>
            <a:chOff x="0" y="0"/>
            <a:chExt cx="2340593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593" cy="406400"/>
            </a:xfrm>
            <a:custGeom>
              <a:avLst/>
              <a:gdLst/>
              <a:ahLst/>
              <a:cxnLst/>
              <a:rect r="r" b="b" t="t" l="l"/>
              <a:pathLst>
                <a:path h="406400" w="2340593">
                  <a:moveTo>
                    <a:pt x="2137393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137393" y="406400"/>
                  </a:lnTo>
                  <a:lnTo>
                    <a:pt x="2340593" y="203200"/>
                  </a:lnTo>
                  <a:lnTo>
                    <a:pt x="2137393" y="0"/>
                  </a:lnTo>
                  <a:close/>
                </a:path>
              </a:pathLst>
            </a:custGeom>
            <a:solidFill>
              <a:srgbClr val="15766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26293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279"/>
                </a:lnSpc>
                <a:spcBef>
                  <a:spcPct val="0"/>
                </a:spcBef>
              </a:pPr>
              <a:r>
                <a:rPr lang="en-US" b="true" sz="5199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BOOKINGS DASHBOARD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299189" y="3819569"/>
            <a:ext cx="11301259" cy="5438731"/>
          </a:xfrm>
          <a:custGeom>
            <a:avLst/>
            <a:gdLst/>
            <a:ahLst/>
            <a:cxnLst/>
            <a:rect r="r" b="b" t="t" l="l"/>
            <a:pathLst>
              <a:path h="5438731" w="11301259">
                <a:moveTo>
                  <a:pt x="0" y="0"/>
                </a:moveTo>
                <a:lnTo>
                  <a:pt x="11301258" y="0"/>
                </a:lnTo>
                <a:lnTo>
                  <a:pt x="11301258" y="5438731"/>
                </a:lnTo>
                <a:lnTo>
                  <a:pt x="0" y="5438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283226" y="2703707"/>
            <a:ext cx="572154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Manual booking using Gmail ID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49587" y="8469645"/>
            <a:ext cx="2464211" cy="1817355"/>
          </a:xfrm>
          <a:custGeom>
            <a:avLst/>
            <a:gdLst/>
            <a:ahLst/>
            <a:cxnLst/>
            <a:rect r="r" b="b" t="t" l="l"/>
            <a:pathLst>
              <a:path h="1817355" w="2464211">
                <a:moveTo>
                  <a:pt x="0" y="0"/>
                </a:moveTo>
                <a:lnTo>
                  <a:pt x="2464211" y="0"/>
                </a:lnTo>
                <a:lnTo>
                  <a:pt x="2464211" y="1817355"/>
                </a:lnTo>
                <a:lnTo>
                  <a:pt x="0" y="1817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024" y="1409503"/>
            <a:ext cx="4887004" cy="1808554"/>
            <a:chOff x="0" y="0"/>
            <a:chExt cx="1287112" cy="476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112" cy="476327"/>
            </a:xfrm>
            <a:custGeom>
              <a:avLst/>
              <a:gdLst/>
              <a:ahLst/>
              <a:cxnLst/>
              <a:rect r="r" b="b" t="t" l="l"/>
              <a:pathLst>
                <a:path h="476327" w="1287112">
                  <a:moveTo>
                    <a:pt x="0" y="0"/>
                  </a:moveTo>
                  <a:lnTo>
                    <a:pt x="1287112" y="0"/>
                  </a:lnTo>
                  <a:lnTo>
                    <a:pt x="1287112" y="476327"/>
                  </a:lnTo>
                  <a:lnTo>
                    <a:pt x="0" y="476327"/>
                  </a:lnTo>
                  <a:close/>
                </a:path>
              </a:pathLst>
            </a:custGeom>
            <a:solidFill>
              <a:srgbClr val="25404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87112" cy="52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2504619" y="905653"/>
            <a:ext cx="1976191" cy="2706531"/>
            <a:chOff x="0" y="0"/>
            <a:chExt cx="323825" cy="443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825" cy="443500"/>
            </a:xfrm>
            <a:custGeom>
              <a:avLst/>
              <a:gdLst/>
              <a:ahLst/>
              <a:cxnLst/>
              <a:rect r="r" b="b" t="t" l="l"/>
              <a:pathLst>
                <a:path h="443500" w="323825">
                  <a:moveTo>
                    <a:pt x="161912" y="0"/>
                  </a:moveTo>
                  <a:lnTo>
                    <a:pt x="323825" y="443500"/>
                  </a:lnTo>
                  <a:lnTo>
                    <a:pt x="0" y="443500"/>
                  </a:lnTo>
                  <a:lnTo>
                    <a:pt x="161912" y="0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50598" y="158286"/>
              <a:ext cx="222629" cy="253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39449" y="560088"/>
            <a:ext cx="9784134" cy="1698831"/>
            <a:chOff x="0" y="0"/>
            <a:chExt cx="2340593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593" cy="406400"/>
            </a:xfrm>
            <a:custGeom>
              <a:avLst/>
              <a:gdLst/>
              <a:ahLst/>
              <a:cxnLst/>
              <a:rect r="r" b="b" t="t" l="l"/>
              <a:pathLst>
                <a:path h="406400" w="2340593">
                  <a:moveTo>
                    <a:pt x="2137393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137393" y="406400"/>
                  </a:lnTo>
                  <a:lnTo>
                    <a:pt x="2340593" y="203200"/>
                  </a:lnTo>
                  <a:lnTo>
                    <a:pt x="2137393" y="0"/>
                  </a:lnTo>
                  <a:close/>
                </a:path>
              </a:pathLst>
            </a:custGeom>
            <a:solidFill>
              <a:srgbClr val="25404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26293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279"/>
                </a:lnSpc>
                <a:spcBef>
                  <a:spcPct val="0"/>
                </a:spcBef>
              </a:pPr>
              <a:r>
                <a:rPr lang="en-US" b="true" sz="5199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LIVE MAP VIEW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153552" y="3734810"/>
            <a:ext cx="11301259" cy="5523490"/>
          </a:xfrm>
          <a:custGeom>
            <a:avLst/>
            <a:gdLst/>
            <a:ahLst/>
            <a:cxnLst/>
            <a:rect r="r" b="b" t="t" l="l"/>
            <a:pathLst>
              <a:path h="5523490" w="11301259">
                <a:moveTo>
                  <a:pt x="0" y="0"/>
                </a:moveTo>
                <a:lnTo>
                  <a:pt x="11301259" y="0"/>
                </a:lnTo>
                <a:lnTo>
                  <a:pt x="11301259" y="5523490"/>
                </a:lnTo>
                <a:lnTo>
                  <a:pt x="0" y="5523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63505" y="2703707"/>
            <a:ext cx="316099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Optimizes routes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49587" y="8469645"/>
            <a:ext cx="2464211" cy="1817355"/>
          </a:xfrm>
          <a:custGeom>
            <a:avLst/>
            <a:gdLst/>
            <a:ahLst/>
            <a:cxnLst/>
            <a:rect r="r" b="b" t="t" l="l"/>
            <a:pathLst>
              <a:path h="1817355" w="2464211">
                <a:moveTo>
                  <a:pt x="0" y="0"/>
                </a:moveTo>
                <a:lnTo>
                  <a:pt x="2464211" y="0"/>
                </a:lnTo>
                <a:lnTo>
                  <a:pt x="2464211" y="1817355"/>
                </a:lnTo>
                <a:lnTo>
                  <a:pt x="0" y="1817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024" y="1409503"/>
            <a:ext cx="4887004" cy="1808554"/>
            <a:chOff x="0" y="0"/>
            <a:chExt cx="1287112" cy="476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112" cy="476327"/>
            </a:xfrm>
            <a:custGeom>
              <a:avLst/>
              <a:gdLst/>
              <a:ahLst/>
              <a:cxnLst/>
              <a:rect r="r" b="b" t="t" l="l"/>
              <a:pathLst>
                <a:path h="476327" w="1287112">
                  <a:moveTo>
                    <a:pt x="0" y="0"/>
                  </a:moveTo>
                  <a:lnTo>
                    <a:pt x="1287112" y="0"/>
                  </a:lnTo>
                  <a:lnTo>
                    <a:pt x="1287112" y="476327"/>
                  </a:lnTo>
                  <a:lnTo>
                    <a:pt x="0" y="476327"/>
                  </a:lnTo>
                  <a:close/>
                </a:path>
              </a:pathLst>
            </a:custGeom>
            <a:solidFill>
              <a:srgbClr val="1A3B5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87112" cy="52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2504619" y="905653"/>
            <a:ext cx="1976191" cy="2706531"/>
            <a:chOff x="0" y="0"/>
            <a:chExt cx="323825" cy="443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825" cy="443500"/>
            </a:xfrm>
            <a:custGeom>
              <a:avLst/>
              <a:gdLst/>
              <a:ahLst/>
              <a:cxnLst/>
              <a:rect r="r" b="b" t="t" l="l"/>
              <a:pathLst>
                <a:path h="443500" w="323825">
                  <a:moveTo>
                    <a:pt x="161912" y="0"/>
                  </a:moveTo>
                  <a:lnTo>
                    <a:pt x="323825" y="443500"/>
                  </a:lnTo>
                  <a:lnTo>
                    <a:pt x="0" y="443500"/>
                  </a:lnTo>
                  <a:lnTo>
                    <a:pt x="161912" y="0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50598" y="158286"/>
              <a:ext cx="222629" cy="253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39449" y="560088"/>
            <a:ext cx="9784134" cy="1698831"/>
            <a:chOff x="0" y="0"/>
            <a:chExt cx="2340593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593" cy="406400"/>
            </a:xfrm>
            <a:custGeom>
              <a:avLst/>
              <a:gdLst/>
              <a:ahLst/>
              <a:cxnLst/>
              <a:rect r="r" b="b" t="t" l="l"/>
              <a:pathLst>
                <a:path h="406400" w="2340593">
                  <a:moveTo>
                    <a:pt x="2137393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137393" y="406400"/>
                  </a:lnTo>
                  <a:lnTo>
                    <a:pt x="2340593" y="203200"/>
                  </a:lnTo>
                  <a:lnTo>
                    <a:pt x="2137393" y="0"/>
                  </a:lnTo>
                  <a:close/>
                </a:path>
              </a:pathLst>
            </a:custGeom>
            <a:solidFill>
              <a:srgbClr val="1A3B5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26293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279"/>
                </a:lnSpc>
                <a:spcBef>
                  <a:spcPct val="0"/>
                </a:spcBef>
              </a:pPr>
              <a:r>
                <a:rPr lang="en-US" b="true" sz="5199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USER MANAGEMENT 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492714" y="3763063"/>
            <a:ext cx="11301259" cy="5495237"/>
          </a:xfrm>
          <a:custGeom>
            <a:avLst/>
            <a:gdLst/>
            <a:ahLst/>
            <a:cxnLst/>
            <a:rect r="r" b="b" t="t" l="l"/>
            <a:pathLst>
              <a:path h="5495237" w="11301259">
                <a:moveTo>
                  <a:pt x="0" y="0"/>
                </a:moveTo>
                <a:lnTo>
                  <a:pt x="11301259" y="0"/>
                </a:lnTo>
                <a:lnTo>
                  <a:pt x="11301259" y="5495237"/>
                </a:lnTo>
                <a:lnTo>
                  <a:pt x="0" y="5495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03468" y="2722756"/>
            <a:ext cx="4679752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Admin access the system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49587" y="8469645"/>
            <a:ext cx="2464211" cy="1817355"/>
          </a:xfrm>
          <a:custGeom>
            <a:avLst/>
            <a:gdLst/>
            <a:ahLst/>
            <a:cxnLst/>
            <a:rect r="r" b="b" t="t" l="l"/>
            <a:pathLst>
              <a:path h="1817355" w="2464211">
                <a:moveTo>
                  <a:pt x="0" y="0"/>
                </a:moveTo>
                <a:lnTo>
                  <a:pt x="2464211" y="0"/>
                </a:lnTo>
                <a:lnTo>
                  <a:pt x="2464211" y="1817355"/>
                </a:lnTo>
                <a:lnTo>
                  <a:pt x="0" y="1817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16119" y="1715294"/>
            <a:ext cx="10388502" cy="6856412"/>
          </a:xfrm>
          <a:custGeom>
            <a:avLst/>
            <a:gdLst/>
            <a:ahLst/>
            <a:cxnLst/>
            <a:rect r="r" b="b" t="t" l="l"/>
            <a:pathLst>
              <a:path h="6856412" w="10388502">
                <a:moveTo>
                  <a:pt x="0" y="0"/>
                </a:moveTo>
                <a:lnTo>
                  <a:pt x="10388502" y="0"/>
                </a:lnTo>
                <a:lnTo>
                  <a:pt x="10388502" y="6856412"/>
                </a:lnTo>
                <a:lnTo>
                  <a:pt x="0" y="6856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4828" y="6274330"/>
            <a:ext cx="1699165" cy="169916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801"/>
            </a:solidFill>
            <a:ln w="13335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09808" y="2255165"/>
            <a:ext cx="1699165" cy="169916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9B5C"/>
            </a:solidFill>
            <a:ln w="13335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7168" y="6274330"/>
            <a:ext cx="1699165" cy="169916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F55"/>
            </a:solidFill>
            <a:ln w="13335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20343" y="2255165"/>
            <a:ext cx="1699165" cy="169916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404E"/>
            </a:solidFill>
            <a:ln w="13335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56410" y="6718272"/>
            <a:ext cx="796000" cy="796000"/>
          </a:xfrm>
          <a:custGeom>
            <a:avLst/>
            <a:gdLst/>
            <a:ahLst/>
            <a:cxnLst/>
            <a:rect r="r" b="b" t="t" l="l"/>
            <a:pathLst>
              <a:path h="796000" w="796000">
                <a:moveTo>
                  <a:pt x="0" y="0"/>
                </a:moveTo>
                <a:lnTo>
                  <a:pt x="796001" y="0"/>
                </a:lnTo>
                <a:lnTo>
                  <a:pt x="796001" y="796000"/>
                </a:lnTo>
                <a:lnTo>
                  <a:pt x="0" y="79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917888" y="2763245"/>
            <a:ext cx="683005" cy="683005"/>
          </a:xfrm>
          <a:custGeom>
            <a:avLst/>
            <a:gdLst/>
            <a:ahLst/>
            <a:cxnLst/>
            <a:rect r="r" b="b" t="t" l="l"/>
            <a:pathLst>
              <a:path h="683005" w="683005">
                <a:moveTo>
                  <a:pt x="0" y="0"/>
                </a:moveTo>
                <a:lnTo>
                  <a:pt x="683005" y="0"/>
                </a:lnTo>
                <a:lnTo>
                  <a:pt x="683005" y="683005"/>
                </a:lnTo>
                <a:lnTo>
                  <a:pt x="0" y="683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59562" y="2794384"/>
            <a:ext cx="620726" cy="620726"/>
          </a:xfrm>
          <a:custGeom>
            <a:avLst/>
            <a:gdLst/>
            <a:ahLst/>
            <a:cxnLst/>
            <a:rect r="r" b="b" t="t" l="l"/>
            <a:pathLst>
              <a:path h="620726" w="620726">
                <a:moveTo>
                  <a:pt x="0" y="0"/>
                </a:moveTo>
                <a:lnTo>
                  <a:pt x="620726" y="0"/>
                </a:lnTo>
                <a:lnTo>
                  <a:pt x="620726" y="620726"/>
                </a:lnTo>
                <a:lnTo>
                  <a:pt x="0" y="6207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709822" y="6736985"/>
            <a:ext cx="773856" cy="773856"/>
          </a:xfrm>
          <a:custGeom>
            <a:avLst/>
            <a:gdLst/>
            <a:ahLst/>
            <a:cxnLst/>
            <a:rect r="r" b="b" t="t" l="l"/>
            <a:pathLst>
              <a:path h="773856" w="773856">
                <a:moveTo>
                  <a:pt x="0" y="0"/>
                </a:moveTo>
                <a:lnTo>
                  <a:pt x="773856" y="0"/>
                </a:lnTo>
                <a:lnTo>
                  <a:pt x="773856" y="773856"/>
                </a:lnTo>
                <a:lnTo>
                  <a:pt x="0" y="7738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917888" y="8520396"/>
            <a:ext cx="2464211" cy="1817355"/>
          </a:xfrm>
          <a:custGeom>
            <a:avLst/>
            <a:gdLst/>
            <a:ahLst/>
            <a:cxnLst/>
            <a:rect r="r" b="b" t="t" l="l"/>
            <a:pathLst>
              <a:path h="1817355" w="2464211">
                <a:moveTo>
                  <a:pt x="0" y="0"/>
                </a:moveTo>
                <a:lnTo>
                  <a:pt x="2464211" y="0"/>
                </a:lnTo>
                <a:lnTo>
                  <a:pt x="2464211" y="1817355"/>
                </a:lnTo>
                <a:lnTo>
                  <a:pt x="0" y="18173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483678" y="880389"/>
            <a:ext cx="10663652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81433" y="3047597"/>
            <a:ext cx="9435117" cy="498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Fleet Management and Route Optimization System effectively illustrates how a modular full-stack architecture can streamline fleet operations.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Key Outcomes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Integrated management of drivers and vehicles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Reliable static route planning and trip monitoring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Data-driven insights through visual analytics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Scalable architecture prepared for AI-driven enhancements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55675" y="1028700"/>
            <a:ext cx="6789420" cy="8229600"/>
          </a:xfrm>
          <a:custGeom>
            <a:avLst/>
            <a:gdLst/>
            <a:ahLst/>
            <a:cxnLst/>
            <a:rect r="r" b="b" t="t" l="l"/>
            <a:pathLst>
              <a:path h="8229600" w="6789420">
                <a:moveTo>
                  <a:pt x="0" y="0"/>
                </a:moveTo>
                <a:lnTo>
                  <a:pt x="6789420" y="0"/>
                </a:lnTo>
                <a:lnTo>
                  <a:pt x="6789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48034" y="2149945"/>
            <a:ext cx="1212707" cy="121270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801"/>
            </a:solidFill>
            <a:ln w="762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15444" y="3600776"/>
            <a:ext cx="1212707" cy="12127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B73C"/>
            </a:solidFill>
            <a:ln w="762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82855" y="5048417"/>
            <a:ext cx="1212707" cy="121270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9B5C"/>
            </a:solidFill>
            <a:ln w="762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50265" y="6496058"/>
            <a:ext cx="1212707" cy="121270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7664"/>
            </a:solidFill>
            <a:ln w="762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917675" y="7943699"/>
            <a:ext cx="1212707" cy="121270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404E"/>
            </a:solidFill>
            <a:ln w="762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217779" y="2519689"/>
            <a:ext cx="473217" cy="473217"/>
          </a:xfrm>
          <a:custGeom>
            <a:avLst/>
            <a:gdLst/>
            <a:ahLst/>
            <a:cxnLst/>
            <a:rect r="r" b="b" t="t" l="l"/>
            <a:pathLst>
              <a:path h="473217" w="473217">
                <a:moveTo>
                  <a:pt x="0" y="0"/>
                </a:moveTo>
                <a:lnTo>
                  <a:pt x="473217" y="0"/>
                </a:lnTo>
                <a:lnTo>
                  <a:pt x="473217" y="473218"/>
                </a:lnTo>
                <a:lnTo>
                  <a:pt x="0" y="473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464909" y="3950242"/>
            <a:ext cx="513776" cy="513776"/>
          </a:xfrm>
          <a:custGeom>
            <a:avLst/>
            <a:gdLst/>
            <a:ahLst/>
            <a:cxnLst/>
            <a:rect r="r" b="b" t="t" l="l"/>
            <a:pathLst>
              <a:path h="513776" w="513776">
                <a:moveTo>
                  <a:pt x="0" y="0"/>
                </a:moveTo>
                <a:lnTo>
                  <a:pt x="513777" y="0"/>
                </a:lnTo>
                <a:lnTo>
                  <a:pt x="513777" y="513776"/>
                </a:lnTo>
                <a:lnTo>
                  <a:pt x="0" y="513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4014885" y="6860678"/>
            <a:ext cx="483467" cy="483467"/>
          </a:xfrm>
          <a:custGeom>
            <a:avLst/>
            <a:gdLst/>
            <a:ahLst/>
            <a:cxnLst/>
            <a:rect r="r" b="b" t="t" l="l"/>
            <a:pathLst>
              <a:path h="483467" w="483467">
                <a:moveTo>
                  <a:pt x="0" y="0"/>
                </a:moveTo>
                <a:lnTo>
                  <a:pt x="483467" y="0"/>
                </a:lnTo>
                <a:lnTo>
                  <a:pt x="483467" y="483467"/>
                </a:lnTo>
                <a:lnTo>
                  <a:pt x="0" y="4834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4264747" y="8290742"/>
            <a:ext cx="518564" cy="518564"/>
          </a:xfrm>
          <a:custGeom>
            <a:avLst/>
            <a:gdLst/>
            <a:ahLst/>
            <a:cxnLst/>
            <a:rect r="r" b="b" t="t" l="l"/>
            <a:pathLst>
              <a:path h="518564" w="518564">
                <a:moveTo>
                  <a:pt x="0" y="0"/>
                </a:moveTo>
                <a:lnTo>
                  <a:pt x="518563" y="0"/>
                </a:lnTo>
                <a:lnTo>
                  <a:pt x="518563" y="518564"/>
                </a:lnTo>
                <a:lnTo>
                  <a:pt x="0" y="5185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3722232" y="5387795"/>
            <a:ext cx="533951" cy="533951"/>
          </a:xfrm>
          <a:custGeom>
            <a:avLst/>
            <a:gdLst/>
            <a:ahLst/>
            <a:cxnLst/>
            <a:rect r="r" b="b" t="t" l="l"/>
            <a:pathLst>
              <a:path h="533951" w="533951">
                <a:moveTo>
                  <a:pt x="0" y="0"/>
                </a:moveTo>
                <a:lnTo>
                  <a:pt x="533951" y="0"/>
                </a:lnTo>
                <a:lnTo>
                  <a:pt x="533951" y="533951"/>
                </a:lnTo>
                <a:lnTo>
                  <a:pt x="0" y="5339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34891" y="3809967"/>
            <a:ext cx="10663652" cy="2073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38"/>
              </a:lnSpc>
            </a:pPr>
            <a:r>
              <a:rPr lang="en-US" b="true" sz="1209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 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0794" y="120022"/>
            <a:ext cx="2464211" cy="1817355"/>
          </a:xfrm>
          <a:custGeom>
            <a:avLst/>
            <a:gdLst/>
            <a:ahLst/>
            <a:cxnLst/>
            <a:rect r="r" b="b" t="t" l="l"/>
            <a:pathLst>
              <a:path h="1817355" w="2464211">
                <a:moveTo>
                  <a:pt x="0" y="0"/>
                </a:moveTo>
                <a:lnTo>
                  <a:pt x="2464211" y="0"/>
                </a:lnTo>
                <a:lnTo>
                  <a:pt x="2464211" y="1817356"/>
                </a:lnTo>
                <a:lnTo>
                  <a:pt x="0" y="18173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428705" y="8816238"/>
            <a:ext cx="4560503" cy="1470762"/>
          </a:xfrm>
          <a:custGeom>
            <a:avLst/>
            <a:gdLst/>
            <a:ahLst/>
            <a:cxnLst/>
            <a:rect r="r" b="b" t="t" l="l"/>
            <a:pathLst>
              <a:path h="1470762" w="4560503">
                <a:moveTo>
                  <a:pt x="0" y="0"/>
                </a:moveTo>
                <a:lnTo>
                  <a:pt x="4560503" y="0"/>
                </a:lnTo>
                <a:lnTo>
                  <a:pt x="4560503" y="1470762"/>
                </a:lnTo>
                <a:lnTo>
                  <a:pt x="0" y="14707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DAG6zdkO454</dc:identifier>
  <dcterms:modified xsi:type="dcterms:W3CDTF">2011-08-01T06:04:30Z</dcterms:modified>
  <cp:revision>1</cp:revision>
  <dc:title>Optimization Path Roadmap</dc:title>
</cp:coreProperties>
</file>